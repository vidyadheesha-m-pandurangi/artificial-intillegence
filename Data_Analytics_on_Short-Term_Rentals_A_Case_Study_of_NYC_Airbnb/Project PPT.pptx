
<file path=[Content_Types].xml><?xml version="1.0" encoding="utf-8"?>
<Types xmlns="http://schemas.openxmlformats.org/package/2006/content-types">
  <Default Extension="jfif"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7"/>
  </p:notesMasterIdLst>
  <p:handoutMasterIdLst>
    <p:handoutMasterId r:id="rId18"/>
  </p:handoutMasterIdLst>
  <p:sldIdLst>
    <p:sldId id="338" r:id="rId5"/>
    <p:sldId id="327" r:id="rId6"/>
    <p:sldId id="315" r:id="rId7"/>
    <p:sldId id="329" r:id="rId8"/>
    <p:sldId id="302" r:id="rId9"/>
    <p:sldId id="339" r:id="rId10"/>
    <p:sldId id="340" r:id="rId11"/>
    <p:sldId id="341" r:id="rId12"/>
    <p:sldId id="344" r:id="rId13"/>
    <p:sldId id="342" r:id="rId14"/>
    <p:sldId id="343" r:id="rId15"/>
    <p:sldId id="304"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109B11-726B-622E-F1D0-53498C852A02}" v="122" dt="2025-09-25T09:02:38.153"/>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9/27/2025</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9/27/2025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9/27/2025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9/27/2025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9/27/2025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9/27/2025</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9/27/2025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9/27/2025</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Vidyadheesha-M-Pandurangi/VOIS_AICTE_Oct2025_Vidyadheesha_M_Pandurangi.git"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463283" y="4141999"/>
            <a:ext cx="7249678" cy="1148458"/>
          </a:xfrm>
        </p:spPr>
        <p:txBody>
          <a:bodyPr>
            <a:noAutofit/>
          </a:bodyPr>
          <a:lstStyle/>
          <a:p>
            <a:pPr algn="r"/>
            <a:r>
              <a:rPr lang="en-US" sz="1600" dirty="0">
                <a:solidFill>
                  <a:schemeClr val="tx1"/>
                </a:solidFill>
                <a:latin typeface="Times New Roman" panose="02020603050405020304" pitchFamily="18" charset="0"/>
                <a:cs typeface="Times New Roman" panose="02020603050405020304" pitchFamily="18" charset="0"/>
              </a:rPr>
              <a:t>VIDYADHEESHA M PANDURANGI</a:t>
            </a:r>
          </a:p>
          <a:p>
            <a:pPr algn="r"/>
            <a:r>
              <a:rPr lang="en-IN" sz="1600" dirty="0">
                <a:solidFill>
                  <a:schemeClr val="tx1"/>
                </a:solidFill>
                <a:latin typeface="Times New Roman" panose="02020603050405020304" pitchFamily="18" charset="0"/>
                <a:cs typeface="Times New Roman" panose="02020603050405020304" pitchFamily="18" charset="0"/>
              </a:rPr>
              <a:t>Internship ID</a:t>
            </a:r>
            <a:r>
              <a:rPr lang="en-IN" sz="1600" b="0" dirty="0">
                <a:solidFill>
                  <a:schemeClr val="tx1"/>
                </a:solidFill>
                <a:latin typeface="Times New Roman" panose="02020603050405020304" pitchFamily="18" charset="0"/>
                <a:cs typeface="Times New Roman" panose="02020603050405020304" pitchFamily="18" charset="0"/>
              </a:rPr>
              <a:t>: INTERNSHIP_172663295366ea53f910591</a:t>
            </a:r>
          </a:p>
          <a:p>
            <a:pPr algn="r"/>
            <a:r>
              <a:rPr lang="en-IN" sz="1600" dirty="0">
                <a:solidFill>
                  <a:schemeClr val="tx1"/>
                </a:solidFill>
                <a:latin typeface="Times New Roman" panose="02020603050405020304" pitchFamily="18" charset="0"/>
                <a:cs typeface="Times New Roman" panose="02020603050405020304" pitchFamily="18" charset="0"/>
              </a:rPr>
              <a:t>AICTE STUDENT REGISTRATION ID</a:t>
            </a:r>
            <a:r>
              <a:rPr lang="en-IN" sz="1600" b="0" dirty="0">
                <a:solidFill>
                  <a:schemeClr val="tx1"/>
                </a:solidFill>
                <a:latin typeface="Times New Roman" panose="02020603050405020304" pitchFamily="18" charset="0"/>
                <a:cs typeface="Times New Roman" panose="02020603050405020304" pitchFamily="18" charset="0"/>
              </a:rPr>
              <a:t>: STU667711a678b251719079334 </a:t>
            </a:r>
          </a:p>
          <a:p>
            <a:pPr algn="r"/>
            <a:endParaRPr lang="en-IN" sz="1600" b="0" dirty="0">
              <a:solidFill>
                <a:schemeClr val="tx1"/>
              </a:solidFill>
              <a:latin typeface="Times New Roman" panose="02020603050405020304" pitchFamily="18" charset="0"/>
              <a:cs typeface="Times New Roman" panose="02020603050405020304" pitchFamily="18" charset="0"/>
            </a:endParaRPr>
          </a:p>
          <a:p>
            <a:pPr algn="r"/>
            <a:endParaRPr lang="en-IN" sz="1600" b="0" dirty="0">
              <a:solidFill>
                <a:schemeClr val="tx1"/>
              </a:solidFill>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429209" y="2613364"/>
            <a:ext cx="9489024" cy="1378447"/>
          </a:xfrm>
        </p:spPr>
        <p:txBody>
          <a:bodyPr>
            <a:normAutofit/>
          </a:bodyPr>
          <a:lstStyle/>
          <a:p>
            <a:pPr algn="ctr"/>
            <a:r>
              <a:rPr lang="en-US" sz="3200" dirty="0">
                <a:latin typeface="Times New Roman" panose="02020603050405020304" pitchFamily="18" charset="0"/>
                <a:cs typeface="Times New Roman" panose="02020603050405020304" pitchFamily="18" charset="0"/>
              </a:rPr>
              <a:t>Data Analytics on Short-Term Rentals: </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A Case Study of NYC Airbnb</a:t>
            </a:r>
            <a:endParaRPr lang="en-IN" sz="3200" dirty="0">
              <a:latin typeface="Times New Roman" panose="02020603050405020304" pitchFamily="18" charset="0"/>
              <a:cs typeface="Times New Roman" panose="02020603050405020304" pitchFamily="18" charset="0"/>
            </a:endParaRP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675957" y="1396792"/>
            <a:ext cx="7236402" cy="5461208"/>
          </a:xfrm>
        </p:spPr>
        <p:txBody>
          <a:bodyPr>
            <a:noAutofit/>
          </a:bodyPr>
          <a:lstStyle/>
          <a:p>
            <a:pPr marL="0" indent="0" algn="just">
              <a:buNone/>
            </a:pPr>
            <a:r>
              <a:rPr lang="en-US" sz="1800" dirty="0">
                <a:solidFill>
                  <a:schemeClr val="tx1"/>
                </a:solidFill>
                <a:latin typeface="Times New Roman" panose="02020603050405020304" pitchFamily="18" charset="0"/>
                <a:cs typeface="Times New Roman" panose="02020603050405020304" pitchFamily="18" charset="0"/>
              </a:rPr>
              <a:t>	The hospitality industry has undergone a significant transformation with the rise of online platforms facilitating short-term lodging and tourism. Leading this revolution is Airbnb, ., a pioneering American company that has reshaped travel accommodation through its innovative online marketplace. Established in 2008 in San Francisco, California, Airbnb provides a diverse range of lodging options, offering guests a unique and personalized experience. Unlike traditional hospitality providers, Airbnb operates on a commission-based model, facilitating transactions between hosts and guests without owning the properties listed on its platform.</a:t>
            </a:r>
          </a:p>
          <a:p>
            <a:pPr marL="0" indent="0" algn="just">
              <a:buNone/>
            </a:pPr>
            <a:r>
              <a:rPr lang="en-US" sz="1800" dirty="0">
                <a:solidFill>
                  <a:schemeClr val="tx1"/>
                </a:solidFill>
                <a:latin typeface="Times New Roman" panose="02020603050405020304" pitchFamily="18" charset="0"/>
                <a:cs typeface="Times New Roman" panose="02020603050405020304" pitchFamily="18" charset="0"/>
              </a:rPr>
              <a:t>	This research analysis delves into the New York City Airbnb dataset to extract meaningful insights. Through rigorous data cleaning, exploratory analysis, and visualization techniques, the study aims to illuminate the dynamics of the city’s lodging market. By discerning factors influencing listing availability, pricing strategies, and overall customer satisfaction, the research contributes to a deeper understanding of Airbnb’s operations in one of the world’s most dynamic urban environments. These insights hold significance for stakeholders and enthusiasts seeking to navigate the evolving landscape of short-term accommodation.</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latin typeface="Times New Roman" panose="02020603050405020304" pitchFamily="18" charset="0"/>
                <a:cs typeface="Times New Roman" panose="02020603050405020304" pitchFamily="18" charset="0"/>
              </a:rPr>
              <a:t>PROBLEM  STATEMENT</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467358" y="1235561"/>
            <a:ext cx="8788609" cy="4484104"/>
          </a:xfrm>
        </p:spPr>
        <p:txBody>
          <a:bodyPr>
            <a:noAutofit/>
          </a:bodyPr>
          <a:lstStyle/>
          <a:p>
            <a:pPr algn="just"/>
            <a:r>
              <a:rPr lang="en-US" sz="1600" b="0" dirty="0">
                <a:latin typeface="Times New Roman" panose="02020603050405020304" pitchFamily="18" charset="0"/>
                <a:cs typeface="Times New Roman" panose="02020603050405020304" pitchFamily="18" charset="0"/>
              </a:rPr>
              <a:t>This project focuses on analyzing the New York City Airbnb dataset to uncover patterns, trends, and insights that shape the dynamics of the short-term lodging market. The primary objective is to transform raw Airbnb data into actionable knowledge through systematic data preprocessing, exploratory data analysis (EDA), and visualization techniques.</a:t>
            </a:r>
            <a:br>
              <a:rPr lang="en-US" sz="1600" b="0" dirty="0">
                <a:latin typeface="Times New Roman" panose="02020603050405020304" pitchFamily="18" charset="0"/>
                <a:cs typeface="Times New Roman" panose="02020603050405020304" pitchFamily="18" charset="0"/>
              </a:rPr>
            </a:br>
            <a:r>
              <a:rPr lang="en-US" sz="1600" b="0" dirty="0">
                <a:latin typeface="Times New Roman" panose="02020603050405020304" pitchFamily="18" charset="0"/>
                <a:cs typeface="Times New Roman" panose="02020603050405020304" pitchFamily="18" charset="0"/>
              </a:rPr>
              <a:t>	The project begins with data cleaning to handle missing values, remove inconsistencies, and ensure the dataset’s integrity. Following this, exploratory data analysis is conducted to examine key variables such as listing availability, host activity, pricing structures, property distribution, and customer preferences. Various visualization tools and statistical techniques are employed to highlight relationships between factors such as neighborhood popularity, seasonal trends, price variations, and review scores.</a:t>
            </a:r>
            <a:br>
              <a:rPr lang="en-US" sz="1600" b="0" dirty="0">
                <a:latin typeface="Times New Roman" panose="02020603050405020304" pitchFamily="18" charset="0"/>
                <a:cs typeface="Times New Roman" panose="02020603050405020304" pitchFamily="18" charset="0"/>
              </a:rPr>
            </a:br>
            <a:r>
              <a:rPr lang="en-US" sz="1600" b="0" dirty="0">
                <a:latin typeface="Times New Roman" panose="02020603050405020304" pitchFamily="18" charset="0"/>
                <a:cs typeface="Times New Roman" panose="02020603050405020304" pitchFamily="18" charset="0"/>
              </a:rPr>
              <a:t>	In addition, the project explores pricing strategies by identifying factors that significantly influence listing prices, such as location, room type, and host experience. It also examines customer satisfaction indicators by analyzing reviews and ratings to better understand guest expectations.</a:t>
            </a:r>
            <a:br>
              <a:rPr lang="en-US" sz="1600" b="0" dirty="0">
                <a:latin typeface="Times New Roman" panose="02020603050405020304" pitchFamily="18" charset="0"/>
                <a:cs typeface="Times New Roman" panose="02020603050405020304" pitchFamily="18" charset="0"/>
              </a:rPr>
            </a:br>
            <a:r>
              <a:rPr lang="en-US" sz="1600" b="0" dirty="0">
                <a:latin typeface="Times New Roman" panose="02020603050405020304" pitchFamily="18" charset="0"/>
                <a:cs typeface="Times New Roman" panose="02020603050405020304" pitchFamily="18" charset="0"/>
              </a:rPr>
              <a:t>	The outcomes of this analysis provide valuable insights for hosts (to optimize pricing and improve occupancy rates), guests (to make informed lodging choices), and policy makers (to understand the socio-economic impact of Airbnb in urban areas).</a:t>
            </a:r>
            <a:br>
              <a:rPr lang="en-US" sz="1600" b="0" dirty="0">
                <a:latin typeface="Times New Roman" panose="02020603050405020304" pitchFamily="18" charset="0"/>
                <a:cs typeface="Times New Roman" panose="02020603050405020304" pitchFamily="18" charset="0"/>
              </a:rPr>
            </a:br>
            <a:r>
              <a:rPr lang="en-US" sz="1600" b="0" dirty="0">
                <a:latin typeface="Times New Roman" panose="02020603050405020304" pitchFamily="18" charset="0"/>
                <a:cs typeface="Times New Roman" panose="02020603050405020304" pitchFamily="18" charset="0"/>
              </a:rPr>
              <a:t>By the end of the project, the analysis not only offers a deeper understanding of Airbnb’s operations in New York City but also demonstrates the power of data-driven approaches in evaluating the evolving landscape of the hospitality industry.</a:t>
            </a: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itle 3">
            <a:extLst>
              <a:ext uri="{FF2B5EF4-FFF2-40B4-BE49-F238E27FC236}">
                <a16:creationId xmlns:a16="http://schemas.microsoft.com/office/drawing/2014/main" id="{C602DB42-85F7-AE94-FB69-6F47D3FBAC8A}"/>
              </a:ext>
            </a:extLst>
          </p:cNvPr>
          <p:cNvSpPr txBox="1">
            <a:spLocks/>
          </p:cNvSpPr>
          <p:nvPr/>
        </p:nvSpPr>
        <p:spPr>
          <a:xfrm>
            <a:off x="586651" y="151447"/>
            <a:ext cx="6995604" cy="790111"/>
          </a:xfrm>
          <a:prstGeom prst="rect">
            <a:avLst/>
          </a:prstGeom>
        </p:spPr>
        <p:txBody>
          <a:bodyPr vert="horz" lIns="91440" tIns="45720" rIns="91440" bIns="45720" rtlCol="0" anchor="t">
            <a:normAutofit fontScale="90000"/>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latin typeface="Times New Roman" panose="02020603050405020304" pitchFamily="18" charset="0"/>
                <a:cs typeface="Times New Roman" panose="02020603050405020304" pitchFamily="18" charset="0"/>
              </a:rPr>
              <a:t>PROJECT DESCRIPTION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p:cTn id="14" dur="500" fill="hold"/>
                                        <p:tgtEl>
                                          <p:spTgt spid="2"/>
                                        </p:tgtEl>
                                        <p:attrNameLst>
                                          <p:attrName>ppt_w</p:attrName>
                                        </p:attrNameLst>
                                      </p:cBhvr>
                                      <p:tavLst>
                                        <p:tav tm="0">
                                          <p:val>
                                            <p:fltVal val="0"/>
                                          </p:val>
                                        </p:tav>
                                        <p:tav tm="100000">
                                          <p:val>
                                            <p:strVal val="#ppt_w"/>
                                          </p:val>
                                        </p:tav>
                                      </p:tavLst>
                                    </p:anim>
                                    <p:anim calcmode="lin" valueType="num">
                                      <p:cBhvr>
                                        <p:cTn id="15" dur="500" fill="hold"/>
                                        <p:tgtEl>
                                          <p:spTgt spid="2"/>
                                        </p:tgtEl>
                                        <p:attrNameLst>
                                          <p:attrName>ppt_h</p:attrName>
                                        </p:attrNameLst>
                                      </p:cBhvr>
                                      <p:tavLst>
                                        <p:tav tm="0">
                                          <p:val>
                                            <p:fltVal val="0"/>
                                          </p:val>
                                        </p:tav>
                                        <p:tav tm="100000">
                                          <p:val>
                                            <p:strVal val="#ppt_h"/>
                                          </p:val>
                                        </p:tav>
                                      </p:tavLst>
                                    </p:anim>
                                    <p:animEffect transition="in" filter="fade">
                                      <p:cBhvr>
                                        <p:cTn id="1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4300" dirty="0">
                <a:latin typeface="Times New Roman" panose="02020603050405020304" pitchFamily="18" charset="0"/>
                <a:cs typeface="Times New Roman" panose="02020603050405020304" pitchFamily="18" charset="0"/>
              </a:rPr>
              <a:t>WHO ARE THE END USERS?</a:t>
            </a:r>
            <a:endParaRPr lang="en-IN" sz="43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3" name="Rectangle 1">
            <a:extLst>
              <a:ext uri="{FF2B5EF4-FFF2-40B4-BE49-F238E27FC236}">
                <a16:creationId xmlns:a16="http://schemas.microsoft.com/office/drawing/2014/main" id="{6D48A43C-D58D-6BD9-725A-31CC2818C5AC}"/>
              </a:ext>
            </a:extLst>
          </p:cNvPr>
          <p:cNvSpPr>
            <a:spLocks noGrp="1" noChangeArrowheads="1"/>
          </p:cNvSpPr>
          <p:nvPr>
            <p:ph type="body" sz="quarter" idx="12"/>
          </p:nvPr>
        </p:nvSpPr>
        <p:spPr bwMode="auto">
          <a:xfrm>
            <a:off x="720725" y="1724055"/>
            <a:ext cx="8257325"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Airbnb Hosts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optimize pricing strategies and increase occupancy rates.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understand customer preferences and improve guest experience.</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Guests / Travelers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make informed lodging decisions based on price, availability, and reviews.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identify the best neighborhoods and property types for their stay.</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Airbnb as a Company</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analyze market trends and improve platform recommendations.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enhance customer satisfaction and increase platform engagement.</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Researchers &amp; Data Analysts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study patterns, trends, and socio-economic impacts of short-term rentals.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use the dataset for testing and validating analytical or machine learning models.</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Policy Makers &amp; Urban Planners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assess the impact of short-term rentals on housing, tourism, and local communities.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guide policy formulation for sustainable urban development.</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613325" y="737649"/>
            <a:ext cx="8071851" cy="6120352"/>
          </a:xfrm>
        </p:spPr>
        <p:txBody>
          <a:bodyPr>
            <a:noAutofit/>
          </a:bodyPr>
          <a:lstStyle/>
          <a:p>
            <a:pPr marL="0" indent="0">
              <a:lnSpc>
                <a:spcPct val="100000"/>
              </a:lnSpc>
              <a:buNone/>
            </a:pPr>
            <a:r>
              <a:rPr lang="en-IN" sz="1300" b="1" dirty="0" err="1">
                <a:latin typeface="Times New Roman" panose="02020603050405020304" pitchFamily="18" charset="0"/>
                <a:cs typeface="Times New Roman" panose="02020603050405020304" pitchFamily="18" charset="0"/>
              </a:rPr>
              <a:t>Jupyter</a:t>
            </a:r>
            <a:r>
              <a:rPr lang="en-IN" sz="1300" b="1" dirty="0">
                <a:latin typeface="Times New Roman" panose="02020603050405020304" pitchFamily="18" charset="0"/>
                <a:cs typeface="Times New Roman" panose="02020603050405020304" pitchFamily="18" charset="0"/>
              </a:rPr>
              <a:t> Notebook</a:t>
            </a:r>
            <a:endParaRPr lang="en-IN" sz="1300" dirty="0">
              <a:latin typeface="Times New Roman" panose="02020603050405020304" pitchFamily="18" charset="0"/>
              <a:cs typeface="Times New Roman" panose="02020603050405020304" pitchFamily="18" charset="0"/>
            </a:endParaRPr>
          </a:p>
          <a:p>
            <a:pPr lvl="1"/>
            <a:r>
              <a:rPr lang="en-IN" sz="1300" dirty="0">
                <a:latin typeface="Times New Roman" panose="02020603050405020304" pitchFamily="18" charset="0"/>
                <a:cs typeface="Times New Roman" panose="02020603050405020304" pitchFamily="18" charset="0"/>
              </a:rPr>
              <a:t>Provides an interactive environment for coding, data analysis, and visualization.</a:t>
            </a:r>
          </a:p>
          <a:p>
            <a:pPr lvl="1"/>
            <a:r>
              <a:rPr lang="en-IN" sz="1300" dirty="0">
                <a:latin typeface="Times New Roman" panose="02020603050405020304" pitchFamily="18" charset="0"/>
                <a:cs typeface="Times New Roman" panose="02020603050405020304" pitchFamily="18" charset="0"/>
              </a:rPr>
              <a:t>Supports step-by-step execution, making it ideal for exploratory data analysis (EDA).</a:t>
            </a:r>
          </a:p>
          <a:p>
            <a:pPr marL="0" indent="0">
              <a:lnSpc>
                <a:spcPct val="100000"/>
              </a:lnSpc>
              <a:buNone/>
            </a:pPr>
            <a:r>
              <a:rPr lang="en-IN" sz="1300" b="1" dirty="0">
                <a:latin typeface="Times New Roman" panose="02020603050405020304" pitchFamily="18" charset="0"/>
                <a:cs typeface="Times New Roman" panose="02020603050405020304" pitchFamily="18" charset="0"/>
              </a:rPr>
              <a:t>Python Libraries</a:t>
            </a:r>
          </a:p>
          <a:p>
            <a:pPr marL="0" indent="0">
              <a:lnSpc>
                <a:spcPct val="100000"/>
              </a:lnSpc>
              <a:buNone/>
            </a:pPr>
            <a:r>
              <a:rPr lang="en-IN" sz="1300" b="1" dirty="0">
                <a:latin typeface="Times New Roman" panose="02020603050405020304" pitchFamily="18" charset="0"/>
                <a:cs typeface="Times New Roman" panose="02020603050405020304" pitchFamily="18" charset="0"/>
              </a:rPr>
              <a:t>NumPy</a:t>
            </a:r>
            <a:r>
              <a:rPr lang="en-IN" sz="1300" dirty="0">
                <a:latin typeface="Times New Roman" panose="02020603050405020304" pitchFamily="18" charset="0"/>
                <a:cs typeface="Times New Roman" panose="02020603050405020304" pitchFamily="18" charset="0"/>
              </a:rPr>
              <a:t> (</a:t>
            </a:r>
            <a:r>
              <a:rPr lang="en-IN" sz="1300" dirty="0" err="1">
                <a:latin typeface="Times New Roman" panose="02020603050405020304" pitchFamily="18" charset="0"/>
                <a:cs typeface="Times New Roman" panose="02020603050405020304" pitchFamily="18" charset="0"/>
              </a:rPr>
              <a:t>numpy</a:t>
            </a:r>
            <a:r>
              <a:rPr lang="en-IN" sz="1300" dirty="0">
                <a:latin typeface="Times New Roman" panose="02020603050405020304" pitchFamily="18" charset="0"/>
                <a:cs typeface="Times New Roman" panose="02020603050405020304" pitchFamily="18" charset="0"/>
              </a:rPr>
              <a:t> as np)</a:t>
            </a:r>
          </a:p>
          <a:p>
            <a:pPr lvl="1"/>
            <a:r>
              <a:rPr lang="en-IN" sz="1300" dirty="0">
                <a:latin typeface="Times New Roman" panose="02020603050405020304" pitchFamily="18" charset="0"/>
                <a:cs typeface="Times New Roman" panose="02020603050405020304" pitchFamily="18" charset="0"/>
              </a:rPr>
              <a:t>Used for numerical computations and handling multi-dimensional arrays.</a:t>
            </a:r>
          </a:p>
          <a:p>
            <a:pPr lvl="1"/>
            <a:r>
              <a:rPr lang="en-IN" sz="1300" dirty="0">
                <a:latin typeface="Times New Roman" panose="02020603050405020304" pitchFamily="18" charset="0"/>
                <a:cs typeface="Times New Roman" panose="02020603050405020304" pitchFamily="18" charset="0"/>
              </a:rPr>
              <a:t>Provides mathematical functions for efficient data manipulation.</a:t>
            </a:r>
          </a:p>
          <a:p>
            <a:pPr marL="0" indent="0">
              <a:lnSpc>
                <a:spcPct val="100000"/>
              </a:lnSpc>
              <a:buNone/>
            </a:pPr>
            <a:r>
              <a:rPr lang="en-IN" sz="1300" b="1" dirty="0">
                <a:latin typeface="Times New Roman" panose="02020603050405020304" pitchFamily="18" charset="0"/>
                <a:cs typeface="Times New Roman" panose="02020603050405020304" pitchFamily="18" charset="0"/>
              </a:rPr>
              <a:t>Pandas</a:t>
            </a:r>
            <a:r>
              <a:rPr lang="en-IN" sz="1300" dirty="0">
                <a:latin typeface="Times New Roman" panose="02020603050405020304" pitchFamily="18" charset="0"/>
                <a:cs typeface="Times New Roman" panose="02020603050405020304" pitchFamily="18" charset="0"/>
              </a:rPr>
              <a:t> (pandas as pd)</a:t>
            </a:r>
          </a:p>
          <a:p>
            <a:pPr lvl="1"/>
            <a:r>
              <a:rPr lang="en-IN" sz="1300" dirty="0">
                <a:latin typeface="Times New Roman" panose="02020603050405020304" pitchFamily="18" charset="0"/>
                <a:cs typeface="Times New Roman" panose="02020603050405020304" pitchFamily="18" charset="0"/>
              </a:rPr>
              <a:t>Used for data cleaning, transformation, and manipulation.</a:t>
            </a:r>
          </a:p>
          <a:p>
            <a:pPr lvl="1"/>
            <a:r>
              <a:rPr lang="en-IN" sz="1300" dirty="0">
                <a:latin typeface="Times New Roman" panose="02020603050405020304" pitchFamily="18" charset="0"/>
                <a:cs typeface="Times New Roman" panose="02020603050405020304" pitchFamily="18" charset="0"/>
              </a:rPr>
              <a:t>Provides </a:t>
            </a:r>
            <a:r>
              <a:rPr lang="en-IN" sz="1300" dirty="0" err="1">
                <a:latin typeface="Times New Roman" panose="02020603050405020304" pitchFamily="18" charset="0"/>
                <a:cs typeface="Times New Roman" panose="02020603050405020304" pitchFamily="18" charset="0"/>
              </a:rPr>
              <a:t>DataFrame</a:t>
            </a:r>
            <a:r>
              <a:rPr lang="en-IN" sz="1300" dirty="0">
                <a:latin typeface="Times New Roman" panose="02020603050405020304" pitchFamily="18" charset="0"/>
                <a:cs typeface="Times New Roman" panose="02020603050405020304" pitchFamily="18" charset="0"/>
              </a:rPr>
              <a:t> and Series structures for handling structured datasets.</a:t>
            </a:r>
          </a:p>
          <a:p>
            <a:pPr marL="0" indent="0">
              <a:lnSpc>
                <a:spcPct val="100000"/>
              </a:lnSpc>
              <a:buNone/>
            </a:pPr>
            <a:r>
              <a:rPr lang="en-IN" sz="1300" b="1" dirty="0">
                <a:latin typeface="Times New Roman" panose="02020603050405020304" pitchFamily="18" charset="0"/>
                <a:cs typeface="Times New Roman" panose="02020603050405020304" pitchFamily="18" charset="0"/>
              </a:rPr>
              <a:t>Matplotlib</a:t>
            </a:r>
            <a:r>
              <a:rPr lang="en-IN" sz="1300" dirty="0">
                <a:latin typeface="Times New Roman" panose="02020603050405020304" pitchFamily="18" charset="0"/>
                <a:cs typeface="Times New Roman" panose="02020603050405020304" pitchFamily="18" charset="0"/>
              </a:rPr>
              <a:t> (</a:t>
            </a:r>
            <a:r>
              <a:rPr lang="en-IN" sz="1300" dirty="0" err="1">
                <a:latin typeface="Times New Roman" panose="02020603050405020304" pitchFamily="18" charset="0"/>
                <a:cs typeface="Times New Roman" panose="02020603050405020304" pitchFamily="18" charset="0"/>
              </a:rPr>
              <a:t>matplotlib.pyplot</a:t>
            </a:r>
            <a:r>
              <a:rPr lang="en-IN" sz="1300" dirty="0">
                <a:latin typeface="Times New Roman" panose="02020603050405020304" pitchFamily="18" charset="0"/>
                <a:cs typeface="Times New Roman" panose="02020603050405020304" pitchFamily="18" charset="0"/>
              </a:rPr>
              <a:t> as </a:t>
            </a:r>
            <a:r>
              <a:rPr lang="en-IN" sz="1300" dirty="0" err="1">
                <a:latin typeface="Times New Roman" panose="02020603050405020304" pitchFamily="18" charset="0"/>
                <a:cs typeface="Times New Roman" panose="02020603050405020304" pitchFamily="18" charset="0"/>
              </a:rPr>
              <a:t>plt</a:t>
            </a:r>
            <a:r>
              <a:rPr lang="en-IN" sz="1300" dirty="0">
                <a:latin typeface="Times New Roman" panose="02020603050405020304" pitchFamily="18" charset="0"/>
                <a:cs typeface="Times New Roman" panose="02020603050405020304" pitchFamily="18" charset="0"/>
              </a:rPr>
              <a:t>)</a:t>
            </a:r>
          </a:p>
          <a:p>
            <a:pPr lvl="1"/>
            <a:r>
              <a:rPr lang="en-IN" sz="1300" dirty="0">
                <a:latin typeface="Times New Roman" panose="02020603050405020304" pitchFamily="18" charset="0"/>
                <a:cs typeface="Times New Roman" panose="02020603050405020304" pitchFamily="18" charset="0"/>
              </a:rPr>
              <a:t>Fundamental library for creating static visualizations.</a:t>
            </a:r>
          </a:p>
          <a:p>
            <a:pPr lvl="1"/>
            <a:r>
              <a:rPr lang="en-IN" sz="1300" dirty="0">
                <a:latin typeface="Times New Roman" panose="02020603050405020304" pitchFamily="18" charset="0"/>
                <a:cs typeface="Times New Roman" panose="02020603050405020304" pitchFamily="18" charset="0"/>
              </a:rPr>
              <a:t>Useful for line charts, bar graphs, histograms, and scatter plots.</a:t>
            </a:r>
          </a:p>
          <a:p>
            <a:pPr marL="0" indent="0">
              <a:lnSpc>
                <a:spcPct val="100000"/>
              </a:lnSpc>
              <a:buNone/>
            </a:pPr>
            <a:r>
              <a:rPr lang="en-IN" sz="1300" b="1" dirty="0">
                <a:latin typeface="Times New Roman" panose="02020603050405020304" pitchFamily="18" charset="0"/>
                <a:cs typeface="Times New Roman" panose="02020603050405020304" pitchFamily="18" charset="0"/>
              </a:rPr>
              <a:t>Seaborn</a:t>
            </a:r>
            <a:r>
              <a:rPr lang="en-IN" sz="1300" dirty="0">
                <a:latin typeface="Times New Roman" panose="02020603050405020304" pitchFamily="18" charset="0"/>
                <a:cs typeface="Times New Roman" panose="02020603050405020304" pitchFamily="18" charset="0"/>
              </a:rPr>
              <a:t> (seaborn as </a:t>
            </a:r>
            <a:r>
              <a:rPr lang="en-IN" sz="1300" dirty="0" err="1">
                <a:latin typeface="Times New Roman" panose="02020603050405020304" pitchFamily="18" charset="0"/>
                <a:cs typeface="Times New Roman" panose="02020603050405020304" pitchFamily="18" charset="0"/>
              </a:rPr>
              <a:t>sns</a:t>
            </a:r>
            <a:r>
              <a:rPr lang="en-IN" sz="1300" dirty="0">
                <a:latin typeface="Times New Roman" panose="02020603050405020304" pitchFamily="18" charset="0"/>
                <a:cs typeface="Times New Roman" panose="02020603050405020304" pitchFamily="18" charset="0"/>
              </a:rPr>
              <a:t>)</a:t>
            </a:r>
          </a:p>
          <a:p>
            <a:pPr lvl="1"/>
            <a:r>
              <a:rPr lang="en-IN" sz="1300" dirty="0">
                <a:latin typeface="Times New Roman" panose="02020603050405020304" pitchFamily="18" charset="0"/>
                <a:cs typeface="Times New Roman" panose="02020603050405020304" pitchFamily="18" charset="0"/>
              </a:rPr>
              <a:t>Built on top of Matplotlib, designed for statistical data visualization.</a:t>
            </a:r>
          </a:p>
          <a:p>
            <a:pPr lvl="1"/>
            <a:r>
              <a:rPr lang="en-IN" sz="1300" dirty="0">
                <a:latin typeface="Times New Roman" panose="02020603050405020304" pitchFamily="18" charset="0"/>
                <a:cs typeface="Times New Roman" panose="02020603050405020304" pitchFamily="18" charset="0"/>
              </a:rPr>
              <a:t>Helps create more informative and attractive plots like heatmaps, boxplots, etc.</a:t>
            </a:r>
          </a:p>
          <a:p>
            <a:pPr marL="0" indent="0">
              <a:lnSpc>
                <a:spcPct val="100000"/>
              </a:lnSpc>
              <a:buNone/>
            </a:pPr>
            <a:r>
              <a:rPr lang="en-IN" sz="1300" b="1" dirty="0" err="1">
                <a:latin typeface="Times New Roman" panose="02020603050405020304" pitchFamily="18" charset="0"/>
                <a:cs typeface="Times New Roman" panose="02020603050405020304" pitchFamily="18" charset="0"/>
              </a:rPr>
              <a:t>Plotly</a:t>
            </a:r>
            <a:r>
              <a:rPr lang="en-IN" sz="1300" b="1" dirty="0">
                <a:latin typeface="Times New Roman" panose="02020603050405020304" pitchFamily="18" charset="0"/>
                <a:cs typeface="Times New Roman" panose="02020603050405020304" pitchFamily="18" charset="0"/>
              </a:rPr>
              <a:t> Express</a:t>
            </a:r>
            <a:r>
              <a:rPr lang="en-IN" sz="1300" dirty="0">
                <a:latin typeface="Times New Roman" panose="02020603050405020304" pitchFamily="18" charset="0"/>
                <a:cs typeface="Times New Roman" panose="02020603050405020304" pitchFamily="18" charset="0"/>
              </a:rPr>
              <a:t> (</a:t>
            </a:r>
            <a:r>
              <a:rPr lang="en-IN" sz="1300" dirty="0" err="1">
                <a:latin typeface="Times New Roman" panose="02020603050405020304" pitchFamily="18" charset="0"/>
                <a:cs typeface="Times New Roman" panose="02020603050405020304" pitchFamily="18" charset="0"/>
              </a:rPr>
              <a:t>plotly.express</a:t>
            </a:r>
            <a:r>
              <a:rPr lang="en-IN" sz="1300" dirty="0">
                <a:latin typeface="Times New Roman" panose="02020603050405020304" pitchFamily="18" charset="0"/>
                <a:cs typeface="Times New Roman" panose="02020603050405020304" pitchFamily="18" charset="0"/>
              </a:rPr>
              <a:t> as </a:t>
            </a:r>
            <a:r>
              <a:rPr lang="en-IN" sz="1300" dirty="0" err="1">
                <a:latin typeface="Times New Roman" panose="02020603050405020304" pitchFamily="18" charset="0"/>
                <a:cs typeface="Times New Roman" panose="02020603050405020304" pitchFamily="18" charset="0"/>
              </a:rPr>
              <a:t>px</a:t>
            </a:r>
            <a:r>
              <a:rPr lang="en-IN" sz="1300" dirty="0">
                <a:latin typeface="Times New Roman" panose="02020603050405020304" pitchFamily="18" charset="0"/>
                <a:cs typeface="Times New Roman" panose="02020603050405020304" pitchFamily="18" charset="0"/>
              </a:rPr>
              <a:t>)</a:t>
            </a:r>
          </a:p>
          <a:p>
            <a:pPr lvl="1"/>
            <a:r>
              <a:rPr lang="en-IN" sz="1300" dirty="0">
                <a:latin typeface="Times New Roman" panose="02020603050405020304" pitchFamily="18" charset="0"/>
                <a:cs typeface="Times New Roman" panose="02020603050405020304" pitchFamily="18" charset="0"/>
              </a:rPr>
              <a:t>Used for creating interactive visualizations.</a:t>
            </a:r>
          </a:p>
          <a:p>
            <a:pPr lvl="1"/>
            <a:r>
              <a:rPr lang="en-IN" sz="1300" dirty="0">
                <a:latin typeface="Times New Roman" panose="02020603050405020304" pitchFamily="18" charset="0"/>
                <a:cs typeface="Times New Roman" panose="02020603050405020304" pitchFamily="18" charset="0"/>
              </a:rPr>
              <a:t>Enables dynamic charts and dashboards for deeper data insights.</a:t>
            </a:r>
          </a:p>
          <a:p>
            <a:pPr lvl="1"/>
            <a:endParaRPr lang="en-IN" sz="1300" dirty="0">
              <a:latin typeface="Times New Roman" panose="02020603050405020304" pitchFamily="18" charset="0"/>
              <a:cs typeface="Times New Roman" panose="02020603050405020304" pitchFamily="18" charset="0"/>
            </a:endParaRP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361819" y="136573"/>
            <a:ext cx="5306291" cy="713044"/>
          </a:xfrm>
        </p:spPr>
        <p:txBody>
          <a:bodyPr>
            <a:normAutofit fontScale="90000"/>
          </a:bodyPr>
          <a:lstStyle/>
          <a:p>
            <a:r>
              <a:rPr lang="en-US" sz="4300" dirty="0">
                <a:latin typeface="Times New Roman" panose="02020603050405020304" pitchFamily="18" charset="0"/>
                <a:cs typeface="Times New Roman" panose="02020603050405020304" pitchFamily="18" charset="0"/>
              </a:rPr>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7">
                                            <p:txEl>
                                              <p:pRg st="3" end="3"/>
                                            </p:txEl>
                                          </p:spTgt>
                                        </p:tgtEl>
                                        <p:attrNameLst>
                                          <p:attrName>style.visibility</p:attrName>
                                        </p:attrNameLst>
                                      </p:cBhvr>
                                      <p:to>
                                        <p:strVal val="visible"/>
                                      </p:to>
                                    </p:set>
                                    <p:animEffect transition="in" filter="fade">
                                      <p:cBhvr>
                                        <p:cTn id="31" dur="1000"/>
                                        <p:tgtEl>
                                          <p:spTgt spid="7">
                                            <p:txEl>
                                              <p:pRg st="3" end="3"/>
                                            </p:txEl>
                                          </p:spTgt>
                                        </p:tgtEl>
                                      </p:cBhvr>
                                    </p:animEffect>
                                    <p:anim calcmode="lin" valueType="num">
                                      <p:cBhvr>
                                        <p:cTn id="32"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3"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7">
                                            <p:txEl>
                                              <p:pRg st="4" end="4"/>
                                            </p:txEl>
                                          </p:spTgt>
                                        </p:tgtEl>
                                        <p:attrNameLst>
                                          <p:attrName>style.visibility</p:attrName>
                                        </p:attrNameLst>
                                      </p:cBhvr>
                                      <p:to>
                                        <p:strVal val="visible"/>
                                      </p:to>
                                    </p:set>
                                    <p:animEffect transition="in" filter="fade">
                                      <p:cBhvr>
                                        <p:cTn id="38" dur="1000"/>
                                        <p:tgtEl>
                                          <p:spTgt spid="7">
                                            <p:txEl>
                                              <p:pRg st="4" end="4"/>
                                            </p:txEl>
                                          </p:spTgt>
                                        </p:tgtEl>
                                      </p:cBhvr>
                                    </p:animEffect>
                                    <p:anim calcmode="lin" valueType="num">
                                      <p:cBhvr>
                                        <p:cTn id="39"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0" dur="1000" fill="hold"/>
                                        <p:tgtEl>
                                          <p:spTgt spid="7">
                                            <p:txEl>
                                              <p:pRg st="4" end="4"/>
                                            </p:txEl>
                                          </p:spTgt>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7">
                                            <p:txEl>
                                              <p:pRg st="5" end="5"/>
                                            </p:txEl>
                                          </p:spTgt>
                                        </p:tgtEl>
                                        <p:attrNameLst>
                                          <p:attrName>style.visibility</p:attrName>
                                        </p:attrNameLst>
                                      </p:cBhvr>
                                      <p:to>
                                        <p:strVal val="visible"/>
                                      </p:to>
                                    </p:set>
                                    <p:animEffect transition="in" filter="fade">
                                      <p:cBhvr>
                                        <p:cTn id="43" dur="1000"/>
                                        <p:tgtEl>
                                          <p:spTgt spid="7">
                                            <p:txEl>
                                              <p:pRg st="5" end="5"/>
                                            </p:txEl>
                                          </p:spTgt>
                                        </p:tgtEl>
                                      </p:cBhvr>
                                    </p:animEffect>
                                    <p:anim calcmode="lin" valueType="num">
                                      <p:cBhvr>
                                        <p:cTn id="44"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5" dur="1000" fill="hold"/>
                                        <p:tgtEl>
                                          <p:spTgt spid="7">
                                            <p:txEl>
                                              <p:pRg st="5" end="5"/>
                                            </p:txEl>
                                          </p:spTgt>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7">
                                            <p:txEl>
                                              <p:pRg st="6" end="6"/>
                                            </p:txEl>
                                          </p:spTgt>
                                        </p:tgtEl>
                                        <p:attrNameLst>
                                          <p:attrName>style.visibility</p:attrName>
                                        </p:attrNameLst>
                                      </p:cBhvr>
                                      <p:to>
                                        <p:strVal val="visible"/>
                                      </p:to>
                                    </p:set>
                                    <p:animEffect transition="in" filter="fade">
                                      <p:cBhvr>
                                        <p:cTn id="48" dur="1000"/>
                                        <p:tgtEl>
                                          <p:spTgt spid="7">
                                            <p:txEl>
                                              <p:pRg st="6" end="6"/>
                                            </p:txEl>
                                          </p:spTgt>
                                        </p:tgtEl>
                                      </p:cBhvr>
                                    </p:animEffect>
                                    <p:anim calcmode="lin" valueType="num">
                                      <p:cBhvr>
                                        <p:cTn id="49"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0"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7">
                                            <p:txEl>
                                              <p:pRg st="7" end="7"/>
                                            </p:txEl>
                                          </p:spTgt>
                                        </p:tgtEl>
                                        <p:attrNameLst>
                                          <p:attrName>style.visibility</p:attrName>
                                        </p:attrNameLst>
                                      </p:cBhvr>
                                      <p:to>
                                        <p:strVal val="visible"/>
                                      </p:to>
                                    </p:set>
                                    <p:animEffect transition="in" filter="fade">
                                      <p:cBhvr>
                                        <p:cTn id="55" dur="1000"/>
                                        <p:tgtEl>
                                          <p:spTgt spid="7">
                                            <p:txEl>
                                              <p:pRg st="7" end="7"/>
                                            </p:txEl>
                                          </p:spTgt>
                                        </p:tgtEl>
                                      </p:cBhvr>
                                    </p:animEffect>
                                    <p:anim calcmode="lin" valueType="num">
                                      <p:cBhvr>
                                        <p:cTn id="56"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57" dur="1000" fill="hold"/>
                                        <p:tgtEl>
                                          <p:spTgt spid="7">
                                            <p:txEl>
                                              <p:pRg st="7" end="7"/>
                                            </p:txEl>
                                          </p:spTgt>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7">
                                            <p:txEl>
                                              <p:pRg st="8" end="8"/>
                                            </p:txEl>
                                          </p:spTgt>
                                        </p:tgtEl>
                                        <p:attrNameLst>
                                          <p:attrName>style.visibility</p:attrName>
                                        </p:attrNameLst>
                                      </p:cBhvr>
                                      <p:to>
                                        <p:strVal val="visible"/>
                                      </p:to>
                                    </p:set>
                                    <p:animEffect transition="in" filter="fade">
                                      <p:cBhvr>
                                        <p:cTn id="60" dur="1000"/>
                                        <p:tgtEl>
                                          <p:spTgt spid="7">
                                            <p:txEl>
                                              <p:pRg st="8" end="8"/>
                                            </p:txEl>
                                          </p:spTgt>
                                        </p:tgtEl>
                                      </p:cBhvr>
                                    </p:animEffect>
                                    <p:anim calcmode="lin" valueType="num">
                                      <p:cBhvr>
                                        <p:cTn id="61"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62" dur="1000" fill="hold"/>
                                        <p:tgtEl>
                                          <p:spTgt spid="7">
                                            <p:txEl>
                                              <p:pRg st="8" end="8"/>
                                            </p:txEl>
                                          </p:spTgt>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7">
                                            <p:txEl>
                                              <p:pRg st="9" end="9"/>
                                            </p:txEl>
                                          </p:spTgt>
                                        </p:tgtEl>
                                        <p:attrNameLst>
                                          <p:attrName>style.visibility</p:attrName>
                                        </p:attrNameLst>
                                      </p:cBhvr>
                                      <p:to>
                                        <p:strVal val="visible"/>
                                      </p:to>
                                    </p:set>
                                    <p:animEffect transition="in" filter="fade">
                                      <p:cBhvr>
                                        <p:cTn id="65" dur="1000"/>
                                        <p:tgtEl>
                                          <p:spTgt spid="7">
                                            <p:txEl>
                                              <p:pRg st="9" end="9"/>
                                            </p:txEl>
                                          </p:spTgt>
                                        </p:tgtEl>
                                      </p:cBhvr>
                                    </p:animEffect>
                                    <p:anim calcmode="lin" valueType="num">
                                      <p:cBhvr>
                                        <p:cTn id="66" dur="1000" fill="hold"/>
                                        <p:tgtEl>
                                          <p:spTgt spid="7">
                                            <p:txEl>
                                              <p:pRg st="9" end="9"/>
                                            </p:txEl>
                                          </p:spTgt>
                                        </p:tgtEl>
                                        <p:attrNameLst>
                                          <p:attrName>ppt_x</p:attrName>
                                        </p:attrNameLst>
                                      </p:cBhvr>
                                      <p:tavLst>
                                        <p:tav tm="0">
                                          <p:val>
                                            <p:strVal val="#ppt_x"/>
                                          </p:val>
                                        </p:tav>
                                        <p:tav tm="100000">
                                          <p:val>
                                            <p:strVal val="#ppt_x"/>
                                          </p:val>
                                        </p:tav>
                                      </p:tavLst>
                                    </p:anim>
                                    <p:anim calcmode="lin" valueType="num">
                                      <p:cBhvr>
                                        <p:cTn id="67" dur="1000" fill="hold"/>
                                        <p:tgtEl>
                                          <p:spTgt spid="7">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42" presetClass="entr" presetSubtype="0" fill="hold" grpId="0" nodeType="clickEffect">
                                  <p:stCondLst>
                                    <p:cond delay="0"/>
                                  </p:stCondLst>
                                  <p:childTnLst>
                                    <p:set>
                                      <p:cBhvr>
                                        <p:cTn id="71" dur="1" fill="hold">
                                          <p:stCondLst>
                                            <p:cond delay="0"/>
                                          </p:stCondLst>
                                        </p:cTn>
                                        <p:tgtEl>
                                          <p:spTgt spid="7">
                                            <p:txEl>
                                              <p:pRg st="10" end="10"/>
                                            </p:txEl>
                                          </p:spTgt>
                                        </p:tgtEl>
                                        <p:attrNameLst>
                                          <p:attrName>style.visibility</p:attrName>
                                        </p:attrNameLst>
                                      </p:cBhvr>
                                      <p:to>
                                        <p:strVal val="visible"/>
                                      </p:to>
                                    </p:set>
                                    <p:animEffect transition="in" filter="fade">
                                      <p:cBhvr>
                                        <p:cTn id="72" dur="1000"/>
                                        <p:tgtEl>
                                          <p:spTgt spid="7">
                                            <p:txEl>
                                              <p:pRg st="10" end="10"/>
                                            </p:txEl>
                                          </p:spTgt>
                                        </p:tgtEl>
                                      </p:cBhvr>
                                    </p:animEffect>
                                    <p:anim calcmode="lin" valueType="num">
                                      <p:cBhvr>
                                        <p:cTn id="73"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74" dur="1000" fill="hold"/>
                                        <p:tgtEl>
                                          <p:spTgt spid="7">
                                            <p:txEl>
                                              <p:pRg st="10" end="10"/>
                                            </p:txEl>
                                          </p:spTgt>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7">
                                            <p:txEl>
                                              <p:pRg st="11" end="11"/>
                                            </p:txEl>
                                          </p:spTgt>
                                        </p:tgtEl>
                                        <p:attrNameLst>
                                          <p:attrName>style.visibility</p:attrName>
                                        </p:attrNameLst>
                                      </p:cBhvr>
                                      <p:to>
                                        <p:strVal val="visible"/>
                                      </p:to>
                                    </p:set>
                                    <p:animEffect transition="in" filter="fade">
                                      <p:cBhvr>
                                        <p:cTn id="77" dur="1000"/>
                                        <p:tgtEl>
                                          <p:spTgt spid="7">
                                            <p:txEl>
                                              <p:pRg st="11" end="11"/>
                                            </p:txEl>
                                          </p:spTgt>
                                        </p:tgtEl>
                                      </p:cBhvr>
                                    </p:animEffect>
                                    <p:anim calcmode="lin" valueType="num">
                                      <p:cBhvr>
                                        <p:cTn id="78" dur="1000" fill="hold"/>
                                        <p:tgtEl>
                                          <p:spTgt spid="7">
                                            <p:txEl>
                                              <p:pRg st="11" end="11"/>
                                            </p:txEl>
                                          </p:spTgt>
                                        </p:tgtEl>
                                        <p:attrNameLst>
                                          <p:attrName>ppt_x</p:attrName>
                                        </p:attrNameLst>
                                      </p:cBhvr>
                                      <p:tavLst>
                                        <p:tav tm="0">
                                          <p:val>
                                            <p:strVal val="#ppt_x"/>
                                          </p:val>
                                        </p:tav>
                                        <p:tav tm="100000">
                                          <p:val>
                                            <p:strVal val="#ppt_x"/>
                                          </p:val>
                                        </p:tav>
                                      </p:tavLst>
                                    </p:anim>
                                    <p:anim calcmode="lin" valueType="num">
                                      <p:cBhvr>
                                        <p:cTn id="79" dur="1000" fill="hold"/>
                                        <p:tgtEl>
                                          <p:spTgt spid="7">
                                            <p:txEl>
                                              <p:pRg st="11" end="11"/>
                                            </p:txEl>
                                          </p:spTgt>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7">
                                            <p:txEl>
                                              <p:pRg st="12" end="12"/>
                                            </p:txEl>
                                          </p:spTgt>
                                        </p:tgtEl>
                                        <p:attrNameLst>
                                          <p:attrName>style.visibility</p:attrName>
                                        </p:attrNameLst>
                                      </p:cBhvr>
                                      <p:to>
                                        <p:strVal val="visible"/>
                                      </p:to>
                                    </p:set>
                                    <p:animEffect transition="in" filter="fade">
                                      <p:cBhvr>
                                        <p:cTn id="82" dur="1000"/>
                                        <p:tgtEl>
                                          <p:spTgt spid="7">
                                            <p:txEl>
                                              <p:pRg st="12" end="12"/>
                                            </p:txEl>
                                          </p:spTgt>
                                        </p:tgtEl>
                                      </p:cBhvr>
                                    </p:animEffect>
                                    <p:anim calcmode="lin" valueType="num">
                                      <p:cBhvr>
                                        <p:cTn id="83" dur="1000" fill="hold"/>
                                        <p:tgtEl>
                                          <p:spTgt spid="7">
                                            <p:txEl>
                                              <p:pRg st="12" end="12"/>
                                            </p:txEl>
                                          </p:spTgt>
                                        </p:tgtEl>
                                        <p:attrNameLst>
                                          <p:attrName>ppt_x</p:attrName>
                                        </p:attrNameLst>
                                      </p:cBhvr>
                                      <p:tavLst>
                                        <p:tav tm="0">
                                          <p:val>
                                            <p:strVal val="#ppt_x"/>
                                          </p:val>
                                        </p:tav>
                                        <p:tav tm="100000">
                                          <p:val>
                                            <p:strVal val="#ppt_x"/>
                                          </p:val>
                                        </p:tav>
                                      </p:tavLst>
                                    </p:anim>
                                    <p:anim calcmode="lin" valueType="num">
                                      <p:cBhvr>
                                        <p:cTn id="84" dur="1000" fill="hold"/>
                                        <p:tgtEl>
                                          <p:spTgt spid="7">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42" presetClass="entr" presetSubtype="0" fill="hold" grpId="0" nodeType="clickEffect">
                                  <p:stCondLst>
                                    <p:cond delay="0"/>
                                  </p:stCondLst>
                                  <p:childTnLst>
                                    <p:set>
                                      <p:cBhvr>
                                        <p:cTn id="88" dur="1" fill="hold">
                                          <p:stCondLst>
                                            <p:cond delay="0"/>
                                          </p:stCondLst>
                                        </p:cTn>
                                        <p:tgtEl>
                                          <p:spTgt spid="7">
                                            <p:txEl>
                                              <p:pRg st="13" end="13"/>
                                            </p:txEl>
                                          </p:spTgt>
                                        </p:tgtEl>
                                        <p:attrNameLst>
                                          <p:attrName>style.visibility</p:attrName>
                                        </p:attrNameLst>
                                      </p:cBhvr>
                                      <p:to>
                                        <p:strVal val="visible"/>
                                      </p:to>
                                    </p:set>
                                    <p:animEffect transition="in" filter="fade">
                                      <p:cBhvr>
                                        <p:cTn id="89" dur="1000"/>
                                        <p:tgtEl>
                                          <p:spTgt spid="7">
                                            <p:txEl>
                                              <p:pRg st="13" end="13"/>
                                            </p:txEl>
                                          </p:spTgt>
                                        </p:tgtEl>
                                      </p:cBhvr>
                                    </p:animEffect>
                                    <p:anim calcmode="lin" valueType="num">
                                      <p:cBhvr>
                                        <p:cTn id="90" dur="1000" fill="hold"/>
                                        <p:tgtEl>
                                          <p:spTgt spid="7">
                                            <p:txEl>
                                              <p:pRg st="13" end="13"/>
                                            </p:txEl>
                                          </p:spTgt>
                                        </p:tgtEl>
                                        <p:attrNameLst>
                                          <p:attrName>ppt_x</p:attrName>
                                        </p:attrNameLst>
                                      </p:cBhvr>
                                      <p:tavLst>
                                        <p:tav tm="0">
                                          <p:val>
                                            <p:strVal val="#ppt_x"/>
                                          </p:val>
                                        </p:tav>
                                        <p:tav tm="100000">
                                          <p:val>
                                            <p:strVal val="#ppt_x"/>
                                          </p:val>
                                        </p:tav>
                                      </p:tavLst>
                                    </p:anim>
                                    <p:anim calcmode="lin" valueType="num">
                                      <p:cBhvr>
                                        <p:cTn id="91" dur="1000" fill="hold"/>
                                        <p:tgtEl>
                                          <p:spTgt spid="7">
                                            <p:txEl>
                                              <p:pRg st="13" end="13"/>
                                            </p:txEl>
                                          </p:spTgt>
                                        </p:tgtEl>
                                        <p:attrNameLst>
                                          <p:attrName>ppt_y</p:attrName>
                                        </p:attrNameLst>
                                      </p:cBhvr>
                                      <p:tavLst>
                                        <p:tav tm="0">
                                          <p:val>
                                            <p:strVal val="#ppt_y+.1"/>
                                          </p:val>
                                        </p:tav>
                                        <p:tav tm="100000">
                                          <p:val>
                                            <p:strVal val="#ppt_y"/>
                                          </p:val>
                                        </p:tav>
                                      </p:tavLst>
                                    </p:anim>
                                  </p:childTnLst>
                                </p:cTn>
                              </p:par>
                              <p:par>
                                <p:cTn id="92" presetID="42" presetClass="entr" presetSubtype="0" fill="hold" grpId="0" nodeType="withEffect">
                                  <p:stCondLst>
                                    <p:cond delay="0"/>
                                  </p:stCondLst>
                                  <p:childTnLst>
                                    <p:set>
                                      <p:cBhvr>
                                        <p:cTn id="93" dur="1" fill="hold">
                                          <p:stCondLst>
                                            <p:cond delay="0"/>
                                          </p:stCondLst>
                                        </p:cTn>
                                        <p:tgtEl>
                                          <p:spTgt spid="7">
                                            <p:txEl>
                                              <p:pRg st="14" end="14"/>
                                            </p:txEl>
                                          </p:spTgt>
                                        </p:tgtEl>
                                        <p:attrNameLst>
                                          <p:attrName>style.visibility</p:attrName>
                                        </p:attrNameLst>
                                      </p:cBhvr>
                                      <p:to>
                                        <p:strVal val="visible"/>
                                      </p:to>
                                    </p:set>
                                    <p:animEffect transition="in" filter="fade">
                                      <p:cBhvr>
                                        <p:cTn id="94" dur="1000"/>
                                        <p:tgtEl>
                                          <p:spTgt spid="7">
                                            <p:txEl>
                                              <p:pRg st="14" end="14"/>
                                            </p:txEl>
                                          </p:spTgt>
                                        </p:tgtEl>
                                      </p:cBhvr>
                                    </p:animEffect>
                                    <p:anim calcmode="lin" valueType="num">
                                      <p:cBhvr>
                                        <p:cTn id="95" dur="1000" fill="hold"/>
                                        <p:tgtEl>
                                          <p:spTgt spid="7">
                                            <p:txEl>
                                              <p:pRg st="14" end="14"/>
                                            </p:txEl>
                                          </p:spTgt>
                                        </p:tgtEl>
                                        <p:attrNameLst>
                                          <p:attrName>ppt_x</p:attrName>
                                        </p:attrNameLst>
                                      </p:cBhvr>
                                      <p:tavLst>
                                        <p:tav tm="0">
                                          <p:val>
                                            <p:strVal val="#ppt_x"/>
                                          </p:val>
                                        </p:tav>
                                        <p:tav tm="100000">
                                          <p:val>
                                            <p:strVal val="#ppt_x"/>
                                          </p:val>
                                        </p:tav>
                                      </p:tavLst>
                                    </p:anim>
                                    <p:anim calcmode="lin" valueType="num">
                                      <p:cBhvr>
                                        <p:cTn id="96" dur="1000" fill="hold"/>
                                        <p:tgtEl>
                                          <p:spTgt spid="7">
                                            <p:txEl>
                                              <p:pRg st="14" end="14"/>
                                            </p:txEl>
                                          </p:spTgt>
                                        </p:tgtEl>
                                        <p:attrNameLst>
                                          <p:attrName>ppt_y</p:attrName>
                                        </p:attrNameLst>
                                      </p:cBhvr>
                                      <p:tavLst>
                                        <p:tav tm="0">
                                          <p:val>
                                            <p:strVal val="#ppt_y+.1"/>
                                          </p:val>
                                        </p:tav>
                                        <p:tav tm="100000">
                                          <p:val>
                                            <p:strVal val="#ppt_y"/>
                                          </p:val>
                                        </p:tav>
                                      </p:tavLst>
                                    </p:anim>
                                  </p:childTnLst>
                                </p:cTn>
                              </p:par>
                              <p:par>
                                <p:cTn id="97" presetID="42" presetClass="entr" presetSubtype="0" fill="hold" grpId="0" nodeType="withEffect">
                                  <p:stCondLst>
                                    <p:cond delay="0"/>
                                  </p:stCondLst>
                                  <p:childTnLst>
                                    <p:set>
                                      <p:cBhvr>
                                        <p:cTn id="98" dur="1" fill="hold">
                                          <p:stCondLst>
                                            <p:cond delay="0"/>
                                          </p:stCondLst>
                                        </p:cTn>
                                        <p:tgtEl>
                                          <p:spTgt spid="7">
                                            <p:txEl>
                                              <p:pRg st="15" end="15"/>
                                            </p:txEl>
                                          </p:spTgt>
                                        </p:tgtEl>
                                        <p:attrNameLst>
                                          <p:attrName>style.visibility</p:attrName>
                                        </p:attrNameLst>
                                      </p:cBhvr>
                                      <p:to>
                                        <p:strVal val="visible"/>
                                      </p:to>
                                    </p:set>
                                    <p:animEffect transition="in" filter="fade">
                                      <p:cBhvr>
                                        <p:cTn id="99" dur="1000"/>
                                        <p:tgtEl>
                                          <p:spTgt spid="7">
                                            <p:txEl>
                                              <p:pRg st="15" end="15"/>
                                            </p:txEl>
                                          </p:spTgt>
                                        </p:tgtEl>
                                      </p:cBhvr>
                                    </p:animEffect>
                                    <p:anim calcmode="lin" valueType="num">
                                      <p:cBhvr>
                                        <p:cTn id="100" dur="1000" fill="hold"/>
                                        <p:tgtEl>
                                          <p:spTgt spid="7">
                                            <p:txEl>
                                              <p:pRg st="15" end="15"/>
                                            </p:txEl>
                                          </p:spTgt>
                                        </p:tgtEl>
                                        <p:attrNameLst>
                                          <p:attrName>ppt_x</p:attrName>
                                        </p:attrNameLst>
                                      </p:cBhvr>
                                      <p:tavLst>
                                        <p:tav tm="0">
                                          <p:val>
                                            <p:strVal val="#ppt_x"/>
                                          </p:val>
                                        </p:tav>
                                        <p:tav tm="100000">
                                          <p:val>
                                            <p:strVal val="#ppt_x"/>
                                          </p:val>
                                        </p:tav>
                                      </p:tavLst>
                                    </p:anim>
                                    <p:anim calcmode="lin" valueType="num">
                                      <p:cBhvr>
                                        <p:cTn id="101" dur="1000" fill="hold"/>
                                        <p:tgtEl>
                                          <p:spTgt spid="7">
                                            <p:txEl>
                                              <p:pRg st="15" end="15"/>
                                            </p:txEl>
                                          </p:spTgt>
                                        </p:tgtEl>
                                        <p:attrNameLst>
                                          <p:attrName>ppt_y</p:attrName>
                                        </p:attrNameLst>
                                      </p:cBhvr>
                                      <p:tavLst>
                                        <p:tav tm="0">
                                          <p:val>
                                            <p:strVal val="#ppt_y+.1"/>
                                          </p:val>
                                        </p:tav>
                                        <p:tav tm="100000">
                                          <p:val>
                                            <p:strVal val="#ppt_y"/>
                                          </p:val>
                                        </p:tav>
                                      </p:tavLst>
                                    </p:anim>
                                  </p:childTnLst>
                                </p:cTn>
                              </p:par>
                            </p:childTnLst>
                          </p:cTn>
                        </p:par>
                      </p:childTnLst>
                    </p:cTn>
                  </p:par>
                  <p:par>
                    <p:cTn id="102" fill="hold">
                      <p:stCondLst>
                        <p:cond delay="indefinite"/>
                      </p:stCondLst>
                      <p:childTnLst>
                        <p:par>
                          <p:cTn id="103" fill="hold">
                            <p:stCondLst>
                              <p:cond delay="0"/>
                            </p:stCondLst>
                            <p:childTnLst>
                              <p:par>
                                <p:cTn id="104" presetID="42" presetClass="entr" presetSubtype="0" fill="hold" grpId="0" nodeType="clickEffect">
                                  <p:stCondLst>
                                    <p:cond delay="0"/>
                                  </p:stCondLst>
                                  <p:childTnLst>
                                    <p:set>
                                      <p:cBhvr>
                                        <p:cTn id="105" dur="1" fill="hold">
                                          <p:stCondLst>
                                            <p:cond delay="0"/>
                                          </p:stCondLst>
                                        </p:cTn>
                                        <p:tgtEl>
                                          <p:spTgt spid="7">
                                            <p:txEl>
                                              <p:pRg st="16" end="16"/>
                                            </p:txEl>
                                          </p:spTgt>
                                        </p:tgtEl>
                                        <p:attrNameLst>
                                          <p:attrName>style.visibility</p:attrName>
                                        </p:attrNameLst>
                                      </p:cBhvr>
                                      <p:to>
                                        <p:strVal val="visible"/>
                                      </p:to>
                                    </p:set>
                                    <p:animEffect transition="in" filter="fade">
                                      <p:cBhvr>
                                        <p:cTn id="106" dur="1000"/>
                                        <p:tgtEl>
                                          <p:spTgt spid="7">
                                            <p:txEl>
                                              <p:pRg st="16" end="16"/>
                                            </p:txEl>
                                          </p:spTgt>
                                        </p:tgtEl>
                                      </p:cBhvr>
                                    </p:animEffect>
                                    <p:anim calcmode="lin" valueType="num">
                                      <p:cBhvr>
                                        <p:cTn id="107" dur="1000" fill="hold"/>
                                        <p:tgtEl>
                                          <p:spTgt spid="7">
                                            <p:txEl>
                                              <p:pRg st="16" end="16"/>
                                            </p:txEl>
                                          </p:spTgt>
                                        </p:tgtEl>
                                        <p:attrNameLst>
                                          <p:attrName>ppt_x</p:attrName>
                                        </p:attrNameLst>
                                      </p:cBhvr>
                                      <p:tavLst>
                                        <p:tav tm="0">
                                          <p:val>
                                            <p:strVal val="#ppt_x"/>
                                          </p:val>
                                        </p:tav>
                                        <p:tav tm="100000">
                                          <p:val>
                                            <p:strVal val="#ppt_x"/>
                                          </p:val>
                                        </p:tav>
                                      </p:tavLst>
                                    </p:anim>
                                    <p:anim calcmode="lin" valueType="num">
                                      <p:cBhvr>
                                        <p:cTn id="108" dur="1000" fill="hold"/>
                                        <p:tgtEl>
                                          <p:spTgt spid="7">
                                            <p:txEl>
                                              <p:pRg st="16" end="16"/>
                                            </p:txEl>
                                          </p:spTgt>
                                        </p:tgtEl>
                                        <p:attrNameLst>
                                          <p:attrName>ppt_y</p:attrName>
                                        </p:attrNameLst>
                                      </p:cBhvr>
                                      <p:tavLst>
                                        <p:tav tm="0">
                                          <p:val>
                                            <p:strVal val="#ppt_y+.1"/>
                                          </p:val>
                                        </p:tav>
                                        <p:tav tm="100000">
                                          <p:val>
                                            <p:strVal val="#ppt_y"/>
                                          </p:val>
                                        </p:tav>
                                      </p:tavLst>
                                    </p:anim>
                                  </p:childTnLst>
                                </p:cTn>
                              </p:par>
                              <p:par>
                                <p:cTn id="109" presetID="42" presetClass="entr" presetSubtype="0" fill="hold" grpId="0" nodeType="withEffect">
                                  <p:stCondLst>
                                    <p:cond delay="0"/>
                                  </p:stCondLst>
                                  <p:childTnLst>
                                    <p:set>
                                      <p:cBhvr>
                                        <p:cTn id="110" dur="1" fill="hold">
                                          <p:stCondLst>
                                            <p:cond delay="0"/>
                                          </p:stCondLst>
                                        </p:cTn>
                                        <p:tgtEl>
                                          <p:spTgt spid="7">
                                            <p:txEl>
                                              <p:pRg st="17" end="17"/>
                                            </p:txEl>
                                          </p:spTgt>
                                        </p:tgtEl>
                                        <p:attrNameLst>
                                          <p:attrName>style.visibility</p:attrName>
                                        </p:attrNameLst>
                                      </p:cBhvr>
                                      <p:to>
                                        <p:strVal val="visible"/>
                                      </p:to>
                                    </p:set>
                                    <p:animEffect transition="in" filter="fade">
                                      <p:cBhvr>
                                        <p:cTn id="111" dur="1000"/>
                                        <p:tgtEl>
                                          <p:spTgt spid="7">
                                            <p:txEl>
                                              <p:pRg st="17" end="17"/>
                                            </p:txEl>
                                          </p:spTgt>
                                        </p:tgtEl>
                                      </p:cBhvr>
                                    </p:animEffect>
                                    <p:anim calcmode="lin" valueType="num">
                                      <p:cBhvr>
                                        <p:cTn id="112" dur="1000" fill="hold"/>
                                        <p:tgtEl>
                                          <p:spTgt spid="7">
                                            <p:txEl>
                                              <p:pRg st="17" end="17"/>
                                            </p:txEl>
                                          </p:spTgt>
                                        </p:tgtEl>
                                        <p:attrNameLst>
                                          <p:attrName>ppt_x</p:attrName>
                                        </p:attrNameLst>
                                      </p:cBhvr>
                                      <p:tavLst>
                                        <p:tav tm="0">
                                          <p:val>
                                            <p:strVal val="#ppt_x"/>
                                          </p:val>
                                        </p:tav>
                                        <p:tav tm="100000">
                                          <p:val>
                                            <p:strVal val="#ppt_x"/>
                                          </p:val>
                                        </p:tav>
                                      </p:tavLst>
                                    </p:anim>
                                    <p:anim calcmode="lin" valueType="num">
                                      <p:cBhvr>
                                        <p:cTn id="113" dur="1000" fill="hold"/>
                                        <p:tgtEl>
                                          <p:spTgt spid="7">
                                            <p:txEl>
                                              <p:pRg st="17" end="17"/>
                                            </p:txEl>
                                          </p:spTgt>
                                        </p:tgtEl>
                                        <p:attrNameLst>
                                          <p:attrName>ppt_y</p:attrName>
                                        </p:attrNameLst>
                                      </p:cBhvr>
                                      <p:tavLst>
                                        <p:tav tm="0">
                                          <p:val>
                                            <p:strVal val="#ppt_y+.1"/>
                                          </p:val>
                                        </p:tav>
                                        <p:tav tm="100000">
                                          <p:val>
                                            <p:strVal val="#ppt_y"/>
                                          </p:val>
                                        </p:tav>
                                      </p:tavLst>
                                    </p:anim>
                                  </p:childTnLst>
                                </p:cTn>
                              </p:par>
                              <p:par>
                                <p:cTn id="114" presetID="42" presetClass="entr" presetSubtype="0" fill="hold" grpId="0" nodeType="withEffect">
                                  <p:stCondLst>
                                    <p:cond delay="0"/>
                                  </p:stCondLst>
                                  <p:childTnLst>
                                    <p:set>
                                      <p:cBhvr>
                                        <p:cTn id="115" dur="1" fill="hold">
                                          <p:stCondLst>
                                            <p:cond delay="0"/>
                                          </p:stCondLst>
                                        </p:cTn>
                                        <p:tgtEl>
                                          <p:spTgt spid="7">
                                            <p:txEl>
                                              <p:pRg st="18" end="18"/>
                                            </p:txEl>
                                          </p:spTgt>
                                        </p:tgtEl>
                                        <p:attrNameLst>
                                          <p:attrName>style.visibility</p:attrName>
                                        </p:attrNameLst>
                                      </p:cBhvr>
                                      <p:to>
                                        <p:strVal val="visible"/>
                                      </p:to>
                                    </p:set>
                                    <p:animEffect transition="in" filter="fade">
                                      <p:cBhvr>
                                        <p:cTn id="116" dur="1000"/>
                                        <p:tgtEl>
                                          <p:spTgt spid="7">
                                            <p:txEl>
                                              <p:pRg st="18" end="18"/>
                                            </p:txEl>
                                          </p:spTgt>
                                        </p:tgtEl>
                                      </p:cBhvr>
                                    </p:animEffect>
                                    <p:anim calcmode="lin" valueType="num">
                                      <p:cBhvr>
                                        <p:cTn id="117" dur="1000" fill="hold"/>
                                        <p:tgtEl>
                                          <p:spTgt spid="7">
                                            <p:txEl>
                                              <p:pRg st="18" end="18"/>
                                            </p:txEl>
                                          </p:spTgt>
                                        </p:tgtEl>
                                        <p:attrNameLst>
                                          <p:attrName>ppt_x</p:attrName>
                                        </p:attrNameLst>
                                      </p:cBhvr>
                                      <p:tavLst>
                                        <p:tav tm="0">
                                          <p:val>
                                            <p:strVal val="#ppt_x"/>
                                          </p:val>
                                        </p:tav>
                                        <p:tav tm="100000">
                                          <p:val>
                                            <p:strVal val="#ppt_x"/>
                                          </p:val>
                                        </p:tav>
                                      </p:tavLst>
                                    </p:anim>
                                    <p:anim calcmode="lin" valueType="num">
                                      <p:cBhvr>
                                        <p:cTn id="118" dur="1000" fill="hold"/>
                                        <p:tgtEl>
                                          <p:spTgt spid="7">
                                            <p:txEl>
                                              <p:pRg st="18" end="1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itle 3">
            <a:extLst>
              <a:ext uri="{FF2B5EF4-FFF2-40B4-BE49-F238E27FC236}">
                <a16:creationId xmlns:a16="http://schemas.microsoft.com/office/drawing/2014/main" id="{A77FE636-88B7-CB3F-ED8B-1D95B7B6B2CE}"/>
              </a:ext>
            </a:extLst>
          </p:cNvPr>
          <p:cNvSpPr>
            <a:spLocks noGrp="1"/>
          </p:cNvSpPr>
          <p:nvPr>
            <p:ph type="title"/>
          </p:nvPr>
        </p:nvSpPr>
        <p:spPr>
          <a:xfrm>
            <a:off x="675957" y="370589"/>
            <a:ext cx="4036002" cy="830997"/>
          </a:xfrm>
        </p:spPr>
        <p:txBody>
          <a:bodyPr>
            <a:normAutofit/>
          </a:bodyPr>
          <a:lstStyle/>
          <a:p>
            <a:r>
              <a:rPr lang="en-GB" sz="4300" dirty="0">
                <a:latin typeface="Times New Roman" panose="02020603050405020304" pitchFamily="18" charset="0"/>
                <a:cs typeface="Times New Roman" panose="02020603050405020304" pitchFamily="18" charset="0"/>
              </a:rPr>
              <a:t>RESULT - 01</a:t>
            </a:r>
            <a:endParaRPr lang="en-IN" sz="430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C2EA8064-D416-A8F4-8E1D-FFA552A1CC41}"/>
              </a:ext>
            </a:extLst>
          </p:cNvPr>
          <p:cNvSpPr txBox="1"/>
          <p:nvPr/>
        </p:nvSpPr>
        <p:spPr>
          <a:xfrm>
            <a:off x="1298907" y="6295628"/>
            <a:ext cx="6826103"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Fig: 01 – Plot of Average Review Rate for each Verification Statistics</a:t>
            </a:r>
          </a:p>
        </p:txBody>
      </p:sp>
      <p:pic>
        <p:nvPicPr>
          <p:cNvPr id="16" name="Picture 15" descr="A screenshot of a computer&#10;&#10;AI-generated content may be incorrect.">
            <a:extLst>
              <a:ext uri="{FF2B5EF4-FFF2-40B4-BE49-F238E27FC236}">
                <a16:creationId xmlns:a16="http://schemas.microsoft.com/office/drawing/2014/main" id="{A70C6AB4-F309-8EE6-F105-CE99152E5C4D}"/>
              </a:ext>
            </a:extLst>
          </p:cNvPr>
          <p:cNvPicPr>
            <a:picLocks noChangeAspect="1"/>
          </p:cNvPicPr>
          <p:nvPr/>
        </p:nvPicPr>
        <p:blipFill>
          <a:blip r:embed="rId3"/>
          <a:stretch>
            <a:fillRect/>
          </a:stretch>
        </p:blipFill>
        <p:spPr>
          <a:xfrm>
            <a:off x="547256" y="1080656"/>
            <a:ext cx="8587413" cy="5214972"/>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p:cTn id="21" dur="500" fill="hold"/>
                                        <p:tgtEl>
                                          <p:spTgt spid="6"/>
                                        </p:tgtEl>
                                        <p:attrNameLst>
                                          <p:attrName>ppt_w</p:attrName>
                                        </p:attrNameLst>
                                      </p:cBhvr>
                                      <p:tavLst>
                                        <p:tav tm="0">
                                          <p:val>
                                            <p:fltVal val="0"/>
                                          </p:val>
                                        </p:tav>
                                        <p:tav tm="100000">
                                          <p:val>
                                            <p:strVal val="#ppt_w"/>
                                          </p:val>
                                        </p:tav>
                                      </p:tavLst>
                                    </p:anim>
                                    <p:anim calcmode="lin" valueType="num">
                                      <p:cBhvr>
                                        <p:cTn id="22" dur="500" fill="hold"/>
                                        <p:tgtEl>
                                          <p:spTgt spid="6"/>
                                        </p:tgtEl>
                                        <p:attrNameLst>
                                          <p:attrName>ppt_h</p:attrName>
                                        </p:attrNameLst>
                                      </p:cBhvr>
                                      <p:tavLst>
                                        <p:tav tm="0">
                                          <p:val>
                                            <p:fltVal val="0"/>
                                          </p:val>
                                        </p:tav>
                                        <p:tav tm="100000">
                                          <p:val>
                                            <p:strVal val="#ppt_h"/>
                                          </p:val>
                                        </p:tav>
                                      </p:tavLst>
                                    </p:anim>
                                    <p:animEffect transition="in" filter="fade">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61F40-61F5-A9E4-2028-61D27EB38D0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90F1862-D4F3-D9EB-176E-2E2938531BA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23A3B93-82D2-A57B-4898-3D9B0C72DC7D}"/>
              </a:ext>
            </a:extLst>
          </p:cNvPr>
          <p:cNvSpPr>
            <a:spLocks noGrp="1"/>
          </p:cNvSpPr>
          <p:nvPr>
            <p:ph type="title"/>
          </p:nvPr>
        </p:nvSpPr>
        <p:spPr>
          <a:xfrm>
            <a:off x="675957" y="370589"/>
            <a:ext cx="4036002" cy="830997"/>
          </a:xfrm>
        </p:spPr>
        <p:txBody>
          <a:bodyPr>
            <a:normAutofit/>
          </a:bodyPr>
          <a:lstStyle/>
          <a:p>
            <a:r>
              <a:rPr lang="en-GB" sz="4300" dirty="0">
                <a:latin typeface="Times New Roman" panose="02020603050405020304" pitchFamily="18" charset="0"/>
                <a:cs typeface="Times New Roman" panose="02020603050405020304" pitchFamily="18" charset="0"/>
              </a:rPr>
              <a:t>RESULT - 02</a:t>
            </a:r>
            <a:endParaRPr lang="en-IN" sz="4300"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id="{F4C0E530-3AAB-E420-2061-2352FB4AEFB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3F5036B-907B-9AB7-BC47-C7C142E40FA7}"/>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2" name="TextBox 11">
            <a:extLst>
              <a:ext uri="{FF2B5EF4-FFF2-40B4-BE49-F238E27FC236}">
                <a16:creationId xmlns:a16="http://schemas.microsoft.com/office/drawing/2014/main" id="{F0725C7E-5739-095C-7407-35735A48722D}"/>
              </a:ext>
            </a:extLst>
          </p:cNvPr>
          <p:cNvSpPr txBox="1"/>
          <p:nvPr/>
        </p:nvSpPr>
        <p:spPr>
          <a:xfrm>
            <a:off x="320982" y="6018629"/>
            <a:ext cx="8959375" cy="646331"/>
          </a:xfrm>
          <a:prstGeom prst="rect">
            <a:avLst/>
          </a:prstGeom>
          <a:noFill/>
        </p:spPr>
        <p:txBody>
          <a:bodyPr wrap="square">
            <a:spAutoFit/>
          </a:bodyPr>
          <a:lstStyle/>
          <a:p>
            <a:pPr algn="ctr"/>
            <a:r>
              <a:rPr lang="en-IN" dirty="0">
                <a:latin typeface="Times New Roman" panose="02020603050405020304" pitchFamily="18" charset="0"/>
                <a:cs typeface="Times New Roman" panose="02020603050405020304" pitchFamily="18" charset="0"/>
              </a:rPr>
              <a:t>Fig: 02 – Plot of Average Review Rate for each Room/Property Type in each Neighbourhood Group</a:t>
            </a:r>
          </a:p>
        </p:txBody>
      </p:sp>
      <p:pic>
        <p:nvPicPr>
          <p:cNvPr id="11" name="Picture 10" descr="A screenshot of a graph&#10;&#10;AI-generated content may be incorrect.">
            <a:extLst>
              <a:ext uri="{FF2B5EF4-FFF2-40B4-BE49-F238E27FC236}">
                <a16:creationId xmlns:a16="http://schemas.microsoft.com/office/drawing/2014/main" id="{B8A0D709-03BD-C33A-4017-9DF0EB39CFEB}"/>
              </a:ext>
            </a:extLst>
          </p:cNvPr>
          <p:cNvPicPr>
            <a:picLocks noChangeAspect="1"/>
          </p:cNvPicPr>
          <p:nvPr/>
        </p:nvPicPr>
        <p:blipFill>
          <a:blip r:embed="rId3"/>
          <a:stretch>
            <a:fillRect/>
          </a:stretch>
        </p:blipFill>
        <p:spPr>
          <a:xfrm>
            <a:off x="555047" y="1122218"/>
            <a:ext cx="8725310" cy="4896411"/>
          </a:xfrm>
          <a:prstGeom prst="rect">
            <a:avLst/>
          </a:prstGeom>
        </p:spPr>
      </p:pic>
    </p:spTree>
    <p:extLst>
      <p:ext uri="{BB962C8B-B14F-4D97-AF65-F5344CB8AC3E}">
        <p14:creationId xmlns:p14="http://schemas.microsoft.com/office/powerpoint/2010/main" val="390853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024A6-C6F7-0E13-B5FE-E6A5870DA15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76194CC-45AC-6391-C127-232D7FE17E8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7" name="Text Placeholder 30">
            <a:extLst>
              <a:ext uri="{FF2B5EF4-FFF2-40B4-BE49-F238E27FC236}">
                <a16:creationId xmlns:a16="http://schemas.microsoft.com/office/drawing/2014/main" id="{BBD379B3-43F5-BB42-D7EF-5C1FA28E50D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0D8247-EFB8-6C04-BBBF-310CEEF88E4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itle 3">
            <a:extLst>
              <a:ext uri="{FF2B5EF4-FFF2-40B4-BE49-F238E27FC236}">
                <a16:creationId xmlns:a16="http://schemas.microsoft.com/office/drawing/2014/main" id="{CA0936CC-669D-8B2A-A2BF-4699815FB186}"/>
              </a:ext>
            </a:extLst>
          </p:cNvPr>
          <p:cNvSpPr txBox="1">
            <a:spLocks/>
          </p:cNvSpPr>
          <p:nvPr/>
        </p:nvSpPr>
        <p:spPr>
          <a:xfrm>
            <a:off x="675957" y="370589"/>
            <a:ext cx="4036002"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sz="4300" dirty="0">
                <a:latin typeface="Times New Roman" panose="02020603050405020304" pitchFamily="18" charset="0"/>
                <a:cs typeface="Times New Roman" panose="02020603050405020304" pitchFamily="18" charset="0"/>
              </a:rPr>
              <a:t>RESULT - 03</a:t>
            </a:r>
            <a:endParaRPr lang="en-IN" sz="4300"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428D0F1B-FAA9-1B44-7DD8-E8933A4CEE79}"/>
              </a:ext>
            </a:extLst>
          </p:cNvPr>
          <p:cNvSpPr txBox="1"/>
          <p:nvPr/>
        </p:nvSpPr>
        <p:spPr>
          <a:xfrm>
            <a:off x="387220" y="6287254"/>
            <a:ext cx="8878078"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Fig: 03 - Plot of the Relationship between Calculated Host listings Count and Availability 365</a:t>
            </a:r>
          </a:p>
        </p:txBody>
      </p:sp>
      <p:pic>
        <p:nvPicPr>
          <p:cNvPr id="15" name="Picture 14" descr="A screen shot of a graph&#10;&#10;AI-generated content may be incorrect.">
            <a:extLst>
              <a:ext uri="{FF2B5EF4-FFF2-40B4-BE49-F238E27FC236}">
                <a16:creationId xmlns:a16="http://schemas.microsoft.com/office/drawing/2014/main" id="{D7EEEAB2-2DEA-2575-6A88-F69959835E16}"/>
              </a:ext>
            </a:extLst>
          </p:cNvPr>
          <p:cNvPicPr>
            <a:picLocks noChangeAspect="1"/>
          </p:cNvPicPr>
          <p:nvPr/>
        </p:nvPicPr>
        <p:blipFill>
          <a:blip r:embed="rId3"/>
          <a:stretch>
            <a:fillRect/>
          </a:stretch>
        </p:blipFill>
        <p:spPr>
          <a:xfrm>
            <a:off x="467591" y="1018309"/>
            <a:ext cx="8717973" cy="5165707"/>
          </a:xfrm>
          <a:prstGeom prst="rect">
            <a:avLst/>
          </a:prstGeom>
        </p:spPr>
      </p:pic>
    </p:spTree>
    <p:extLst>
      <p:ext uri="{BB962C8B-B14F-4D97-AF65-F5344CB8AC3E}">
        <p14:creationId xmlns:p14="http://schemas.microsoft.com/office/powerpoint/2010/main" val="349846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p:cTn id="21" dur="500" fill="hold"/>
                                        <p:tgtEl>
                                          <p:spTgt spid="6"/>
                                        </p:tgtEl>
                                        <p:attrNameLst>
                                          <p:attrName>ppt_w</p:attrName>
                                        </p:attrNameLst>
                                      </p:cBhvr>
                                      <p:tavLst>
                                        <p:tav tm="0">
                                          <p:val>
                                            <p:fltVal val="0"/>
                                          </p:val>
                                        </p:tav>
                                        <p:tav tm="100000">
                                          <p:val>
                                            <p:strVal val="#ppt_w"/>
                                          </p:val>
                                        </p:tav>
                                      </p:tavLst>
                                    </p:anim>
                                    <p:anim calcmode="lin" valueType="num">
                                      <p:cBhvr>
                                        <p:cTn id="22" dur="500" fill="hold"/>
                                        <p:tgtEl>
                                          <p:spTgt spid="6"/>
                                        </p:tgtEl>
                                        <p:attrNameLst>
                                          <p:attrName>ppt_h</p:attrName>
                                        </p:attrNameLst>
                                      </p:cBhvr>
                                      <p:tavLst>
                                        <p:tav tm="0">
                                          <p:val>
                                            <p:fltVal val="0"/>
                                          </p:val>
                                        </p:tav>
                                        <p:tav tm="100000">
                                          <p:val>
                                            <p:strVal val="#ppt_h"/>
                                          </p:val>
                                        </p:tav>
                                      </p:tavLst>
                                    </p:anim>
                                    <p:animEffect transition="in" filter="fade">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302F3-5B15-F4B3-4FC0-05D49317B44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5314807-9A27-116F-CC98-E5EEF28F080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A0845DA-C188-DB03-7162-C74DB64A3678}"/>
              </a:ext>
            </a:extLst>
          </p:cNvPr>
          <p:cNvSpPr>
            <a:spLocks noGrp="1"/>
          </p:cNvSpPr>
          <p:nvPr>
            <p:ph type="title"/>
          </p:nvPr>
        </p:nvSpPr>
        <p:spPr>
          <a:xfrm>
            <a:off x="675957" y="370589"/>
            <a:ext cx="6115368" cy="878622"/>
          </a:xfrm>
        </p:spPr>
        <p:txBody>
          <a:bodyPr>
            <a:normAutofit/>
          </a:bodyPr>
          <a:lstStyle/>
          <a:p>
            <a:r>
              <a:rPr lang="en-GB" sz="4300" dirty="0">
                <a:latin typeface="Times New Roman" panose="02020603050405020304" pitchFamily="18" charset="0"/>
                <a:cs typeface="Times New Roman" panose="02020603050405020304" pitchFamily="18" charset="0"/>
              </a:rPr>
              <a:t>GITHUB REPOSITORY</a:t>
            </a:r>
          </a:p>
        </p:txBody>
      </p:sp>
      <p:sp>
        <p:nvSpPr>
          <p:cNvPr id="7" name="Text Placeholder 30">
            <a:extLst>
              <a:ext uri="{FF2B5EF4-FFF2-40B4-BE49-F238E27FC236}">
                <a16:creationId xmlns:a16="http://schemas.microsoft.com/office/drawing/2014/main" id="{9B11EDF8-3FD7-C9FE-2AA8-09208B3BEFC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8935B953-0B74-DF35-9464-45E8CB01D89D}"/>
              </a:ext>
            </a:extLst>
          </p:cNvPr>
          <p:cNvSpPr>
            <a:spLocks noGrp="1"/>
          </p:cNvSpPr>
          <p:nvPr>
            <p:ph type="body" sz="quarter" idx="12"/>
          </p:nvPr>
        </p:nvSpPr>
        <p:spPr>
          <a:xfrm>
            <a:off x="214603" y="2819899"/>
            <a:ext cx="10916817" cy="1218201"/>
          </a:xfrm>
        </p:spPr>
        <p:txBody>
          <a:bodyPr vert="horz" lIns="91440" tIns="45720" rIns="91440" bIns="45720" rtlCol="0" anchor="t">
            <a:normAutofit/>
          </a:bodyPr>
          <a:lstStyle/>
          <a:p>
            <a:pPr marL="0" indent="0">
              <a:buNone/>
            </a:pPr>
            <a:r>
              <a:rPr lang="en-US" b="1" dirty="0">
                <a:latin typeface="Times New Roman" panose="02020603050405020304" pitchFamily="18" charset="0"/>
                <a:cs typeface="Times New Roman" panose="02020603050405020304" pitchFamily="18" charset="0"/>
              </a:rPr>
              <a:t>GitHub Link: </a:t>
            </a:r>
          </a:p>
          <a:p>
            <a:pPr marL="0" indent="0">
              <a:buNone/>
            </a:pPr>
            <a:r>
              <a:rPr lang="en-US" dirty="0">
                <a:latin typeface="Times New Roman" panose="02020603050405020304" pitchFamily="18" charset="0"/>
                <a:cs typeface="Times New Roman" panose="02020603050405020304" pitchFamily="18" charset="0"/>
                <a:hlinkClick r:id="rId3"/>
              </a:rPr>
              <a:t>https://github.com/Vidyadheesha-M-Pandurangi/VOIS_AICTE_Oct2025_Vidyadheesha_M_Pandurangi.git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6923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xEl>
                                              <p:pRg st="0" end="0"/>
                                            </p:txEl>
                                          </p:spTgt>
                                        </p:tgtEl>
                                        <p:attrNameLst>
                                          <p:attrName>style.visibility</p:attrName>
                                        </p:attrNameLst>
                                      </p:cBhvr>
                                      <p:to>
                                        <p:strVal val="visible"/>
                                      </p:to>
                                    </p:set>
                                    <p:animEffect transition="in" filter="fade">
                                      <p:cBhvr>
                                        <p:cTn id="21" dur="1000"/>
                                        <p:tgtEl>
                                          <p:spTgt spid="10">
                                            <p:txEl>
                                              <p:pRg st="0" end="0"/>
                                            </p:txEl>
                                          </p:spTgt>
                                        </p:tgtEl>
                                      </p:cBhvr>
                                    </p:animEffect>
                                    <p:anim calcmode="lin" valueType="num">
                                      <p:cBhvr>
                                        <p:cTn id="22"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1" end="1"/>
                                            </p:txEl>
                                          </p:spTgt>
                                        </p:tgtEl>
                                        <p:attrNameLst>
                                          <p:attrName>style.visibility</p:attrName>
                                        </p:attrNameLst>
                                      </p:cBhvr>
                                      <p:to>
                                        <p:strVal val="visible"/>
                                      </p:to>
                                    </p:set>
                                    <p:animEffect transition="in" filter="fade">
                                      <p:cBhvr>
                                        <p:cTn id="28" dur="1000"/>
                                        <p:tgtEl>
                                          <p:spTgt spid="10">
                                            <p:txEl>
                                              <p:pRg st="1" end="1"/>
                                            </p:txEl>
                                          </p:spTgt>
                                        </p:tgtEl>
                                      </p:cBhvr>
                                    </p:animEffect>
                                    <p:anim calcmode="lin" valueType="num">
                                      <p:cBhvr>
                                        <p:cTn id="29"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3FACE-D55E-9B4A-7A75-15654F5D4FD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761536A-9E87-8208-553B-AFA23F55C6E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5390BF9-A1B3-D0A5-6FE6-4C64A8B75AA9}"/>
              </a:ext>
            </a:extLst>
          </p:cNvPr>
          <p:cNvSpPr>
            <a:spLocks noGrp="1"/>
          </p:cNvSpPr>
          <p:nvPr>
            <p:ph type="title"/>
          </p:nvPr>
        </p:nvSpPr>
        <p:spPr>
          <a:xfrm>
            <a:off x="0" y="222984"/>
            <a:ext cx="9367935" cy="562472"/>
          </a:xfrm>
        </p:spPr>
        <p:txBody>
          <a:bodyPr>
            <a:noAutofit/>
          </a:bodyPr>
          <a:lstStyle/>
          <a:p>
            <a:r>
              <a:rPr lang="en-IN" sz="2400" dirty="0">
                <a:latin typeface="Times New Roman" panose="02020603050405020304" pitchFamily="18" charset="0"/>
                <a:cs typeface="Times New Roman" panose="02020603050405020304" pitchFamily="18" charset="0"/>
              </a:rPr>
              <a:t>GETTING STARTED WITH BASICS OF PYTHON </a:t>
            </a:r>
            <a:r>
              <a:rPr lang="en-GB" sz="2400" dirty="0">
                <a:latin typeface="Times New Roman" panose="02020603050405020304" pitchFamily="18" charset="0"/>
                <a:cs typeface="Times New Roman" panose="02020603050405020304" pitchFamily="18" charset="0"/>
              </a:rPr>
              <a:t>CERTIFICATE  </a:t>
            </a:r>
            <a:endParaRPr lang="en-IN" sz="2400"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id="{C0B10ED4-748B-FD2D-3185-4AB559AC71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1BF57D1-2242-C3F4-D177-EE064D5454A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descr="A certificate of completion with red text&#10;&#10;AI-generated content may be incorrect.">
            <a:extLst>
              <a:ext uri="{FF2B5EF4-FFF2-40B4-BE49-F238E27FC236}">
                <a16:creationId xmlns:a16="http://schemas.microsoft.com/office/drawing/2014/main" id="{FDA32FD8-966A-AFC8-FC63-673745414F82}"/>
              </a:ext>
            </a:extLst>
          </p:cNvPr>
          <p:cNvPicPr>
            <a:picLocks noChangeAspect="1"/>
          </p:cNvPicPr>
          <p:nvPr/>
        </p:nvPicPr>
        <p:blipFill>
          <a:blip r:embed="rId3"/>
          <a:stretch>
            <a:fillRect/>
          </a:stretch>
        </p:blipFill>
        <p:spPr>
          <a:xfrm>
            <a:off x="560064" y="772227"/>
            <a:ext cx="8332009" cy="5892734"/>
          </a:xfrm>
          <a:prstGeom prst="rect">
            <a:avLst/>
          </a:prstGeom>
        </p:spPr>
      </p:pic>
    </p:spTree>
    <p:extLst>
      <p:ext uri="{BB962C8B-B14F-4D97-AF65-F5344CB8AC3E}">
        <p14:creationId xmlns:p14="http://schemas.microsoft.com/office/powerpoint/2010/main" val="2710602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CD52E-39EF-82B8-E116-6B0D9B50E1D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0214EFD-3FAC-BE9B-CFBB-2D1FCCED012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5359B88B-4EF4-AA7A-A15C-4B2147671C19}"/>
              </a:ext>
            </a:extLst>
          </p:cNvPr>
          <p:cNvSpPr>
            <a:spLocks noGrp="1"/>
          </p:cNvSpPr>
          <p:nvPr>
            <p:ph type="title"/>
          </p:nvPr>
        </p:nvSpPr>
        <p:spPr>
          <a:xfrm>
            <a:off x="0" y="182954"/>
            <a:ext cx="10892066" cy="479520"/>
          </a:xfrm>
        </p:spPr>
        <p:txBody>
          <a:bodyPr>
            <a:noAutofit/>
          </a:bodyPr>
          <a:lstStyle/>
          <a:p>
            <a:r>
              <a:rPr lang="en-IN" sz="2400" dirty="0">
                <a:latin typeface="Times New Roman" panose="02020603050405020304" pitchFamily="18" charset="0"/>
                <a:cs typeface="Times New Roman" panose="02020603050405020304" pitchFamily="18" charset="0"/>
              </a:rPr>
              <a:t>DATA VISUALIZATION </a:t>
            </a:r>
            <a:r>
              <a:rPr lang="en-GB" sz="2400" dirty="0">
                <a:latin typeface="Times New Roman" panose="02020603050405020304" pitchFamily="18" charset="0"/>
                <a:cs typeface="Times New Roman" panose="02020603050405020304" pitchFamily="18" charset="0"/>
              </a:rPr>
              <a:t>CERTIFICATE  </a:t>
            </a:r>
            <a:endParaRPr lang="en-IN" sz="2400"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id="{C23E8C61-31F1-4380-CEFB-D75448F856D7}"/>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F0577D1-D5B1-726B-4FAB-B353BDE31B12}"/>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descr="A certificate of completion with a red ribbon and a red seal&#10;&#10;AI-generated content may be incorrect.">
            <a:extLst>
              <a:ext uri="{FF2B5EF4-FFF2-40B4-BE49-F238E27FC236}">
                <a16:creationId xmlns:a16="http://schemas.microsoft.com/office/drawing/2014/main" id="{55716A51-067D-73EB-EBB9-208CDF0E4BC8}"/>
              </a:ext>
            </a:extLst>
          </p:cNvPr>
          <p:cNvPicPr>
            <a:picLocks noChangeAspect="1"/>
          </p:cNvPicPr>
          <p:nvPr/>
        </p:nvPicPr>
        <p:blipFill>
          <a:blip r:embed="rId3"/>
          <a:stretch>
            <a:fillRect/>
          </a:stretch>
        </p:blipFill>
        <p:spPr>
          <a:xfrm>
            <a:off x="573320" y="775001"/>
            <a:ext cx="8328084" cy="5889959"/>
          </a:xfrm>
          <a:prstGeom prst="rect">
            <a:avLst/>
          </a:prstGeom>
        </p:spPr>
      </p:pic>
    </p:spTree>
    <p:extLst>
      <p:ext uri="{BB962C8B-B14F-4D97-AF65-F5344CB8AC3E}">
        <p14:creationId xmlns:p14="http://schemas.microsoft.com/office/powerpoint/2010/main" val="566684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742492" y="2843113"/>
            <a:ext cx="12192000" cy="700114"/>
          </a:xfrm>
          <a:prstGeom prst="rect">
            <a:avLst/>
          </a:prstGeom>
        </p:spPr>
        <p:txBody>
          <a:bodyPr anchor="ctr">
            <a:noAutofit/>
          </a:bodyPr>
          <a:lstStyle/>
          <a:p>
            <a:pPr algn="ctr"/>
            <a:r>
              <a:rPr lang="en-US" sz="7200" b="1" dirty="0">
                <a:solidFill>
                  <a:schemeClr val="tx1"/>
                </a:solidFill>
                <a:latin typeface="Times New Roman" panose="02020603050405020304" pitchFamily="18" charset="0"/>
                <a:cs typeface="Times New Roman" panose="02020603050405020304" pitchFamily="18" charset="0"/>
              </a:rPr>
              <a:t>THANK YOU</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nodePh="1">
                                  <p:stCondLst>
                                    <p:cond delay="0"/>
                                  </p:stCondLst>
                                  <p:endCondLst>
                                    <p:cond evt="begin" delay="0">
                                      <p:tn val="18"/>
                                    </p:cond>
                                  </p:endCondLst>
                                  <p:childTnLst>
                                    <p:set>
                                      <p:cBhvr>
                                        <p:cTn id="19" dur="1" fill="hold">
                                          <p:stCondLst>
                                            <p:cond delay="0"/>
                                          </p:stCondLst>
                                        </p:cTn>
                                        <p:tgtEl>
                                          <p:spTgt spid="20"/>
                                        </p:tgtEl>
                                        <p:attrNameLst>
                                          <p:attrName>style.visibility</p:attrName>
                                        </p:attrNameLst>
                                      </p:cBhvr>
                                      <p:to>
                                        <p:strVal val="visible"/>
                                      </p:to>
                                    </p:set>
                                    <p:anim calcmode="lin" valueType="num">
                                      <p:cBhvr additive="base">
                                        <p:cTn id="20" dur="500"/>
                                        <p:tgtEl>
                                          <p:spTgt spid="20"/>
                                        </p:tgtEl>
                                        <p:attrNameLst>
                                          <p:attrName>ppt_y</p:attrName>
                                        </p:attrNameLst>
                                      </p:cBhvr>
                                      <p:tavLst>
                                        <p:tav tm="0">
                                          <p:val>
                                            <p:strVal val="#ppt_y+#ppt_h*1.125000"/>
                                          </p:val>
                                        </p:tav>
                                        <p:tav tm="100000">
                                          <p:val>
                                            <p:strVal val="#ppt_y"/>
                                          </p:val>
                                        </p:tav>
                                      </p:tavLst>
                                    </p:anim>
                                    <p:animEffect transition="in" filter="wipe(up)">
                                      <p:cBhvr>
                                        <p:cTn id="21" dur="500"/>
                                        <p:tgtEl>
                                          <p:spTgt spid="20"/>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p:tgtEl>
                                          <p:spTgt spid="30"/>
                                        </p:tgtEl>
                                        <p:attrNameLst>
                                          <p:attrName>ppt_y</p:attrName>
                                        </p:attrNameLst>
                                      </p:cBhvr>
                                      <p:tavLst>
                                        <p:tav tm="0">
                                          <p:val>
                                            <p:strVal val="#ppt_y+#ppt_h*1.125000"/>
                                          </p:val>
                                        </p:tav>
                                        <p:tav tm="100000">
                                          <p:val>
                                            <p:strVal val="#ppt_y"/>
                                          </p:val>
                                        </p:tav>
                                      </p:tavLst>
                                    </p:anim>
                                    <p:animEffect transition="in" filter="wipe(up)">
                                      <p:cBhvr>
                                        <p:cTn id="27" dur="500"/>
                                        <p:tgtEl>
                                          <p:spTgt spid="3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23"/>
                                        </p:tgtEl>
                                        <p:attrNameLst>
                                          <p:attrName>style.visibility</p:attrName>
                                        </p:attrNameLst>
                                      </p:cBhvr>
                                      <p:to>
                                        <p:strVal val="visible"/>
                                      </p:to>
                                    </p:set>
                                    <p:anim calcmode="lin" valueType="num">
                                      <p:cBhvr additive="base">
                                        <p:cTn id="32" dur="500"/>
                                        <p:tgtEl>
                                          <p:spTgt spid="23"/>
                                        </p:tgtEl>
                                        <p:attrNameLst>
                                          <p:attrName>ppt_y</p:attrName>
                                        </p:attrNameLst>
                                      </p:cBhvr>
                                      <p:tavLst>
                                        <p:tav tm="0">
                                          <p:val>
                                            <p:strVal val="#ppt_y+#ppt_h*1.125000"/>
                                          </p:val>
                                        </p:tav>
                                        <p:tav tm="100000">
                                          <p:val>
                                            <p:strVal val="#ppt_y"/>
                                          </p:val>
                                        </p:tav>
                                      </p:tavLst>
                                    </p:anim>
                                    <p:animEffect transition="in" filter="wipe(up)">
                                      <p:cBhvr>
                                        <p:cTn id="33" dur="500"/>
                                        <p:tgtEl>
                                          <p:spTgt spid="23"/>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p:stCondLst>
                                    <p:cond delay="0"/>
                                  </p:stCondLst>
                                  <p:childTnLst>
                                    <p:set>
                                      <p:cBhvr>
                                        <p:cTn id="37" dur="1" fill="hold">
                                          <p:stCondLst>
                                            <p:cond delay="0"/>
                                          </p:stCondLst>
                                        </p:cTn>
                                        <p:tgtEl>
                                          <p:spTgt spid="32"/>
                                        </p:tgtEl>
                                        <p:attrNameLst>
                                          <p:attrName>style.visibility</p:attrName>
                                        </p:attrNameLst>
                                      </p:cBhvr>
                                      <p:to>
                                        <p:strVal val="visible"/>
                                      </p:to>
                                    </p:set>
                                    <p:anim calcmode="lin" valueType="num">
                                      <p:cBhvr additive="base">
                                        <p:cTn id="38" dur="500"/>
                                        <p:tgtEl>
                                          <p:spTgt spid="32"/>
                                        </p:tgtEl>
                                        <p:attrNameLst>
                                          <p:attrName>ppt_y</p:attrName>
                                        </p:attrNameLst>
                                      </p:cBhvr>
                                      <p:tavLst>
                                        <p:tav tm="0">
                                          <p:val>
                                            <p:strVal val="#ppt_y+#ppt_h*1.125000"/>
                                          </p:val>
                                        </p:tav>
                                        <p:tav tm="100000">
                                          <p:val>
                                            <p:strVal val="#ppt_y"/>
                                          </p:val>
                                        </p:tav>
                                      </p:tavLst>
                                    </p:anim>
                                    <p:animEffect transition="in" filter="wipe(up)">
                                      <p:cBhvr>
                                        <p:cTn id="39"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825</TotalTime>
  <Words>894</Words>
  <Application>Microsoft Office PowerPoint</Application>
  <PresentationFormat>Widescreen</PresentationFormat>
  <Paragraphs>59</Paragraphs>
  <Slides>12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Times New Roman</vt:lpstr>
      <vt:lpstr>Trebuchet MS</vt:lpstr>
      <vt:lpstr>Wingdings</vt:lpstr>
      <vt:lpstr>Wingdings 3</vt:lpstr>
      <vt:lpstr>Facet</vt:lpstr>
      <vt:lpstr>Data Analytics on Short-Term Rentals:  A Case Study of NYC Airbnb</vt:lpstr>
      <vt:lpstr>PROBLEM  STATEMENT</vt:lpstr>
      <vt:lpstr>This project focuses on analyzing the New York City Airbnb dataset to uncover patterns, trends, and insights that shape the dynamics of the short-term lodging market. The primary objective is to transform raw Airbnb data into actionable knowledge through systematic data preprocessing, exploratory data analysis (EDA), and visualization techniques.  The project begins with data cleaning to handle missing values, remove inconsistencies, and ensure the dataset’s integrity. Following this, exploratory data analysis is conducted to examine key variables such as listing availability, host activity, pricing structures, property distribution, and customer preferences. Various visualization tools and statistical techniques are employed to highlight relationships between factors such as neighborhood popularity, seasonal trends, price variations, and review scores.  In addition, the project explores pricing strategies by identifying factors that significantly influence listing prices, such as location, room type, and host experience. It also examines customer satisfaction indicators by analyzing reviews and ratings to better understand guest expectations.  The outcomes of this analysis provide valuable insights for hosts (to optimize pricing and improve occupancy rates), guests (to make informed lodging choices), and policy makers (to understand the socio-economic impact of Airbnb in urban areas). By the end of the project, the analysis not only offers a deeper understanding of Airbnb’s operations in New York City but also demonstrates the power of data-driven approaches in evaluating the evolving landscape of the hospitality industry.</vt:lpstr>
      <vt:lpstr>WHO ARE THE END USERS?</vt:lpstr>
      <vt:lpstr>TECHNOLOGY USED</vt:lpstr>
      <vt:lpstr>RESULT - 01</vt:lpstr>
      <vt:lpstr>RESULT - 02</vt:lpstr>
      <vt:lpstr>PowerPoint Presentation</vt:lpstr>
      <vt:lpstr>GITHUB REPOSITORY</vt:lpstr>
      <vt:lpstr>GETTING STARTED WITH BASICS OF PYTHON CERTIFICATE  </vt:lpstr>
      <vt:lpstr>DATA VISUALIZATION CERTIFICATE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Vidyadheesha M Pandurangi</cp:lastModifiedBy>
  <cp:revision>108</cp:revision>
  <dcterms:created xsi:type="dcterms:W3CDTF">2021-07-11T13:13:15Z</dcterms:created>
  <dcterms:modified xsi:type="dcterms:W3CDTF">2025-09-27T16:42:10Z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