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10/2/2025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10/2/2025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10/2/2025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10/2/2025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10/2/2025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Vidyadheesha-M-Pandurangi/Netflix_Content_Trends_A_Strategic_Analysis_2008-2021.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463282" y="3836135"/>
            <a:ext cx="7249678" cy="1378446"/>
          </a:xfrm>
        </p:spPr>
        <p:txBody>
          <a:bodyPr>
            <a:noAutofit/>
          </a:bodyPr>
          <a:lstStyle/>
          <a:p>
            <a:pPr algn="r"/>
            <a:r>
              <a:rPr lang="en-US" sz="1600" dirty="0">
                <a:solidFill>
                  <a:schemeClr val="tx1"/>
                </a:solidFill>
                <a:latin typeface="Times New Roman" panose="02020603050405020304" pitchFamily="18" charset="0"/>
                <a:cs typeface="Times New Roman" panose="02020603050405020304" pitchFamily="18" charset="0"/>
              </a:rPr>
              <a:t>VIDYADHEESHA M PANDURANGI</a:t>
            </a:r>
          </a:p>
          <a:p>
            <a:pPr algn="r"/>
            <a:r>
              <a:rPr lang="en-IN" sz="1600" dirty="0">
                <a:solidFill>
                  <a:schemeClr val="tx1"/>
                </a:solidFill>
                <a:latin typeface="Times New Roman" panose="02020603050405020304" pitchFamily="18" charset="0"/>
                <a:cs typeface="Times New Roman" panose="02020603050405020304" pitchFamily="18" charset="0"/>
              </a:rPr>
              <a:t>Internship ID</a:t>
            </a:r>
            <a:r>
              <a:rPr lang="en-IN" sz="1600" b="0" dirty="0">
                <a:solidFill>
                  <a:schemeClr val="tx1"/>
                </a:solidFill>
                <a:latin typeface="Times New Roman" panose="02020603050405020304" pitchFamily="18" charset="0"/>
                <a:cs typeface="Times New Roman" panose="02020603050405020304" pitchFamily="18" charset="0"/>
              </a:rPr>
              <a:t>: INTERNSHIP_172663295366ea53f910591</a:t>
            </a:r>
          </a:p>
          <a:p>
            <a:pPr algn="r"/>
            <a:r>
              <a:rPr lang="en-IN" sz="1600" dirty="0">
                <a:solidFill>
                  <a:schemeClr val="tx1"/>
                </a:solidFill>
                <a:latin typeface="Times New Roman" panose="02020603050405020304" pitchFamily="18" charset="0"/>
                <a:cs typeface="Times New Roman" panose="02020603050405020304" pitchFamily="18" charset="0"/>
              </a:rPr>
              <a:t>Apply ID</a:t>
            </a:r>
            <a:r>
              <a:rPr lang="en-IN" sz="1600" b="0" dirty="0">
                <a:solidFill>
                  <a:schemeClr val="tx1"/>
                </a:solidFill>
                <a:latin typeface="Times New Roman" panose="02020603050405020304" pitchFamily="18" charset="0"/>
                <a:cs typeface="Times New Roman" panose="02020603050405020304" pitchFamily="18" charset="0"/>
              </a:rPr>
              <a:t>: APPLY_175561522668a48ffa9b8df</a:t>
            </a:r>
          </a:p>
          <a:p>
            <a:pPr algn="r"/>
            <a:r>
              <a:rPr lang="en-IN" sz="1600" dirty="0">
                <a:solidFill>
                  <a:schemeClr val="tx1"/>
                </a:solidFill>
                <a:latin typeface="Times New Roman" panose="02020603050405020304" pitchFamily="18" charset="0"/>
                <a:cs typeface="Times New Roman" panose="02020603050405020304" pitchFamily="18" charset="0"/>
              </a:rPr>
              <a:t>AICTE STUDENT REGISTRATION ID</a:t>
            </a:r>
            <a:r>
              <a:rPr lang="en-IN" sz="1600" b="0" dirty="0">
                <a:solidFill>
                  <a:schemeClr val="tx1"/>
                </a:solidFill>
                <a:latin typeface="Times New Roman" panose="02020603050405020304" pitchFamily="18" charset="0"/>
                <a:cs typeface="Times New Roman" panose="02020603050405020304" pitchFamily="18" charset="0"/>
              </a:rPr>
              <a:t>: STU667711a678b251719079334 </a:t>
            </a:r>
          </a:p>
          <a:p>
            <a:pPr algn="r"/>
            <a:endParaRPr lang="en-IN" sz="1600" b="0" dirty="0">
              <a:solidFill>
                <a:schemeClr val="tx1"/>
              </a:solidFill>
              <a:latin typeface="Times New Roman" panose="02020603050405020304" pitchFamily="18" charset="0"/>
              <a:cs typeface="Times New Roman" panose="02020603050405020304" pitchFamily="18" charset="0"/>
            </a:endParaRPr>
          </a:p>
          <a:p>
            <a:pPr algn="r"/>
            <a:endParaRPr lang="en-IN" sz="1600" b="0" dirty="0">
              <a:solidFill>
                <a:schemeClr val="tx1"/>
              </a:solidFill>
              <a:latin typeface="Times New Roman" panose="02020603050405020304" pitchFamily="18" charset="0"/>
              <a:cs typeface="Times New Roman" panose="02020603050405020304" pitchFamily="18" charset="0"/>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429209" y="2613364"/>
            <a:ext cx="9489024" cy="1378447"/>
          </a:xfrm>
        </p:spPr>
        <p:txBody>
          <a:bodyPr>
            <a:normAutofit/>
          </a:bodyPr>
          <a:lstStyle/>
          <a:p>
            <a:pPr algn="ctr"/>
            <a:r>
              <a:rPr lang="en-IN" sz="3200" dirty="0">
                <a:latin typeface="Times New Roman" panose="02020603050405020304" pitchFamily="18" charset="0"/>
                <a:cs typeface="Times New Roman" panose="02020603050405020304" pitchFamily="18" charset="0"/>
              </a:rPr>
              <a:t>Netflix Content Trends: </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A Strategic Analysis (2008–2021)</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34203" y="2292531"/>
            <a:ext cx="7236402" cy="3576424"/>
          </a:xfrm>
        </p:spPr>
        <p:txBody>
          <a:bodyPr>
            <a:noAutofit/>
          </a:bodyPr>
          <a:lstStyle/>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	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p>
          <a:p>
            <a:pPr marL="0" indent="0" algn="just">
              <a:buNone/>
            </a:pPr>
            <a:r>
              <a:rPr lang="en-US" sz="1800" dirty="0">
                <a:solidFill>
                  <a:schemeClr val="tx1"/>
                </a:solidFill>
                <a:latin typeface="Times New Roman" panose="02020603050405020304" pitchFamily="18" charset="0"/>
                <a:cs typeface="Times New Roman" panose="02020603050405020304" pitchFamily="18" charset="0"/>
              </a:rPr>
              <a:t>	The specific problem to be addressed in this project is 'Content Trends Analysis for Strategic Recommendations'. The aim is to uncover how Netflix’s content distribution (Movies vs. TV Shows, genres, and country contributions) has evolved over the years. This will enable the identification of key genres, audience preferences, and strategic insights into global content expansion.</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latin typeface="Times New Roman" panose="02020603050405020304" pitchFamily="18" charset="0"/>
                <a:cs typeface="Times New Roman" panose="02020603050405020304" pitchFamily="18" charset="0"/>
              </a:rPr>
              <a:t>PROBLEM  STATEMENT</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1429543"/>
            <a:ext cx="8788609" cy="3998913"/>
          </a:xfrm>
        </p:spPr>
        <p:txBody>
          <a:bodyPr>
            <a:noAutofit/>
          </a:bodyPr>
          <a:lstStyle/>
          <a:p>
            <a:pPr algn="just"/>
            <a:r>
              <a:rPr lang="en-US" sz="1800" dirty="0"/>
              <a:t>	</a:t>
            </a:r>
            <a:r>
              <a:rPr lang="en-US" sz="1800" b="0" dirty="0">
                <a:latin typeface="Times New Roman" panose="02020603050405020304" pitchFamily="18" charset="0"/>
                <a:cs typeface="Times New Roman" panose="02020603050405020304" pitchFamily="18" charset="0"/>
              </a:rPr>
              <a:t>This project undertakes a focused analysis of the Netflix content library, utilizing a dataset containing 7,789 records of Movies and TV Shows spanning content added between 2008 and 2021. The central purpose is to perform a Strategic Content Trends Analysis designed to uncover the platform’s evolutionary shifts in content focus, geographical sourcing, and genre priorities. This investigation is critical in the context of fierce global competition from rival streaming services, necessitating data-driven strategic adjustments.</a:t>
            </a:r>
            <a:br>
              <a:rPr lang="en-US" sz="1800" b="0" dirty="0">
                <a:latin typeface="Times New Roman" panose="02020603050405020304" pitchFamily="18" charset="0"/>
                <a:cs typeface="Times New Roman" panose="02020603050405020304" pitchFamily="18" charset="0"/>
              </a:rPr>
            </a:br>
            <a:br>
              <a:rPr lang="en-US" sz="1800" b="0" dirty="0">
                <a:latin typeface="Times New Roman" panose="02020603050405020304" pitchFamily="18" charset="0"/>
                <a:cs typeface="Times New Roman" panose="02020603050405020304" pitchFamily="18" charset="0"/>
              </a:rPr>
            </a:br>
            <a:r>
              <a:rPr lang="en-US" sz="1800" b="0" dirty="0">
                <a:latin typeface="Times New Roman" panose="02020603050405020304" pitchFamily="18" charset="0"/>
                <a:cs typeface="Times New Roman" panose="02020603050405020304" pitchFamily="18" charset="0"/>
              </a:rPr>
              <a:t>	The specific challenge addressed is how to sustain Netflix’s competitive advantage by scientifically identifying strengths, gaps, and future opportunities within its content portfolio. The analysis begins with essential data preparation, ensuring the integrity of the 7,789 entries, particularly cleaning and standardizing categorical fields such as director, cast, country, and listed genres, which often contain multiple values. Following this, Exploratory Data Analysis (EDA) is conducted using visualization and statistical modeling to examine time-based trends in content distribution. </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itle 3">
            <a:extLst>
              <a:ext uri="{FF2B5EF4-FFF2-40B4-BE49-F238E27FC236}">
                <a16:creationId xmlns:a16="http://schemas.microsoft.com/office/drawing/2014/main" id="{C602DB42-85F7-AE94-FB69-6F47D3FBAC8A}"/>
              </a:ext>
            </a:extLst>
          </p:cNvPr>
          <p:cNvSpPr txBox="1">
            <a:spLocks/>
          </p:cNvSpPr>
          <p:nvPr/>
        </p:nvSpPr>
        <p:spPr>
          <a:xfrm>
            <a:off x="586651" y="151447"/>
            <a:ext cx="6995604" cy="790111"/>
          </a:xfrm>
          <a:prstGeom prst="rect">
            <a:avLst/>
          </a:prstGeom>
        </p:spPr>
        <p:txBody>
          <a:bodyPr vert="horz" lIns="91440" tIns="45720" rIns="91440" bIns="45720" rtlCol="0" anchor="t">
            <a:normAutofit fontScale="90000"/>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latin typeface="Times New Roman" panose="02020603050405020304" pitchFamily="18" charset="0"/>
                <a:cs typeface="Times New Roman" panose="02020603050405020304" pitchFamily="18" charset="0"/>
              </a:rPr>
              <a:t>PROJECT DESCRIPTION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10678" y="195421"/>
            <a:ext cx="10046070" cy="802641"/>
          </a:xfrm>
        </p:spPr>
        <p:txBody>
          <a:bodyPr>
            <a:normAutofit/>
          </a:bodyPr>
          <a:lstStyle/>
          <a:p>
            <a:r>
              <a:rPr lang="en-US" sz="4300" dirty="0">
                <a:latin typeface="Times New Roman" panose="02020603050405020304" pitchFamily="18" charset="0"/>
                <a:cs typeface="Times New Roman" panose="02020603050405020304" pitchFamily="18" charset="0"/>
              </a:rPr>
              <a:t>WHO ARE THE END USERS?</a:t>
            </a:r>
            <a:endParaRPr lang="en-IN" sz="43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6D48A43C-D58D-6BD9-725A-31CC2818C5AC}"/>
              </a:ext>
            </a:extLst>
          </p:cNvPr>
          <p:cNvSpPr>
            <a:spLocks noGrp="1" noChangeArrowheads="1"/>
          </p:cNvSpPr>
          <p:nvPr>
            <p:ph type="body" sz="quarter" idx="12"/>
          </p:nvPr>
        </p:nvSpPr>
        <p:spPr bwMode="auto">
          <a:xfrm>
            <a:off x="610678" y="1329323"/>
            <a:ext cx="8691943" cy="4847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b="1" dirty="0">
                <a:latin typeface="Times New Roman" panose="02020603050405020304" pitchFamily="18" charset="0"/>
                <a:cs typeface="Times New Roman" panose="02020603050405020304" pitchFamily="18" charset="0"/>
              </a:rPr>
              <a:t>Netflix Content Strategy &amp; Acquisition Teams</a:t>
            </a:r>
          </a:p>
          <a:p>
            <a:r>
              <a:rPr lang="en-US" sz="1800" dirty="0">
                <a:latin typeface="Times New Roman" panose="02020603050405020304" pitchFamily="18" charset="0"/>
                <a:cs typeface="Times New Roman" panose="02020603050405020304" pitchFamily="18" charset="0"/>
              </a:rPr>
              <a:t>To make data-driven decisions on where to allocate the multi-billion dollar content budget.</a:t>
            </a:r>
          </a:p>
          <a:p>
            <a:pPr marL="0" indent="0">
              <a:buNone/>
            </a:pPr>
            <a:r>
              <a:rPr lang="en-US" sz="1800" b="1" dirty="0">
                <a:latin typeface="Times New Roman" panose="02020603050405020304" pitchFamily="18" charset="0"/>
                <a:cs typeface="Times New Roman" panose="02020603050405020304" pitchFamily="18" charset="0"/>
              </a:rPr>
              <a:t>Netflix Original Programming (Production) Team</a:t>
            </a:r>
          </a:p>
          <a:p>
            <a:r>
              <a:rPr lang="en-US" sz="1800" dirty="0">
                <a:latin typeface="Times New Roman" panose="02020603050405020304" pitchFamily="18" charset="0"/>
                <a:cs typeface="Times New Roman" panose="02020603050405020304" pitchFamily="18" charset="0"/>
              </a:rPr>
              <a:t>To guide the development and greenlighting process for Netflix's own original content (Netflix Studios).</a:t>
            </a:r>
          </a:p>
          <a:p>
            <a:pPr marL="0" indent="0">
              <a:buNone/>
            </a:pPr>
            <a:r>
              <a:rPr lang="en-US" sz="1800" b="1" dirty="0">
                <a:latin typeface="Times New Roman" panose="02020603050405020304" pitchFamily="18" charset="0"/>
                <a:cs typeface="Times New Roman" panose="02020603050405020304" pitchFamily="18" charset="0"/>
              </a:rPr>
              <a:t>Executive and Strategy Leadership</a:t>
            </a:r>
          </a:p>
          <a:p>
            <a:r>
              <a:rPr lang="en-US" sz="1800" dirty="0">
                <a:latin typeface="Times New Roman" panose="02020603050405020304" pitchFamily="18" charset="0"/>
                <a:cs typeface="Times New Roman" panose="02020603050405020304" pitchFamily="18" charset="0"/>
              </a:rPr>
              <a:t>To formulate high-level business strategy, assess competitive positioning, and guide international market expansion.</a:t>
            </a:r>
          </a:p>
          <a:p>
            <a:pPr marL="0" indent="0">
              <a:buNone/>
            </a:pPr>
            <a:r>
              <a:rPr lang="en-US" sz="1800" b="1" dirty="0">
                <a:latin typeface="Times New Roman" panose="02020603050405020304" pitchFamily="18" charset="0"/>
                <a:cs typeface="Times New Roman" panose="02020603050405020304" pitchFamily="18" charset="0"/>
              </a:rPr>
              <a:t>Third-Party Content Creators and Studios</a:t>
            </a:r>
          </a:p>
          <a:p>
            <a:r>
              <a:rPr lang="en-US" sz="1800" dirty="0">
                <a:latin typeface="Times New Roman" panose="02020603050405020304" pitchFamily="18" charset="0"/>
                <a:cs typeface="Times New Roman" panose="02020603050405020304" pitchFamily="18" charset="0"/>
              </a:rPr>
              <a:t>To understand content demands and trends on the world's largest streaming platform.</a:t>
            </a:r>
          </a:p>
          <a:p>
            <a:pPr marL="0" indent="0">
              <a:buNone/>
            </a:pPr>
            <a:r>
              <a:rPr lang="en-US" sz="1800" b="1" dirty="0">
                <a:latin typeface="Times New Roman" panose="02020603050405020304" pitchFamily="18" charset="0"/>
                <a:cs typeface="Times New Roman" panose="02020603050405020304" pitchFamily="18" charset="0"/>
              </a:rPr>
              <a:t>Data Scientists and Researchers</a:t>
            </a:r>
          </a:p>
          <a:p>
            <a:r>
              <a:rPr lang="en-US" sz="1800" dirty="0">
                <a:latin typeface="Times New Roman" panose="02020603050405020304" pitchFamily="18" charset="0"/>
                <a:cs typeface="Times New Roman" panose="02020603050405020304" pitchFamily="18" charset="0"/>
              </a:rPr>
              <a:t>To utilize the analysis methodology as a foundation for further research and modeling.</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13325" y="737649"/>
            <a:ext cx="8071851" cy="6120352"/>
          </a:xfrm>
        </p:spPr>
        <p:txBody>
          <a:bodyPr>
            <a:noAutofit/>
          </a:bodyPr>
          <a:lstStyle/>
          <a:p>
            <a:pPr marL="0" indent="0">
              <a:lnSpc>
                <a:spcPct val="100000"/>
              </a:lnSpc>
              <a:buNone/>
            </a:pPr>
            <a:r>
              <a:rPr lang="en-IN" sz="1300" b="1" dirty="0" err="1">
                <a:latin typeface="Times New Roman" panose="02020603050405020304" pitchFamily="18" charset="0"/>
                <a:cs typeface="Times New Roman" panose="02020603050405020304" pitchFamily="18" charset="0"/>
              </a:rPr>
              <a:t>Jupyter</a:t>
            </a:r>
            <a:r>
              <a:rPr lang="en-IN" sz="1300" b="1" dirty="0">
                <a:latin typeface="Times New Roman" panose="02020603050405020304" pitchFamily="18" charset="0"/>
                <a:cs typeface="Times New Roman" panose="02020603050405020304" pitchFamily="18" charset="0"/>
              </a:rPr>
              <a:t> Notebook</a:t>
            </a:r>
            <a:endParaRPr lang="en-IN" sz="1300" dirty="0">
              <a:latin typeface="Times New Roman" panose="02020603050405020304" pitchFamily="18" charset="0"/>
              <a:cs typeface="Times New Roman" panose="02020603050405020304" pitchFamily="18" charset="0"/>
            </a:endParaRPr>
          </a:p>
          <a:p>
            <a:pPr lvl="1"/>
            <a:r>
              <a:rPr lang="en-IN" sz="1300" dirty="0">
                <a:latin typeface="Times New Roman" panose="02020603050405020304" pitchFamily="18" charset="0"/>
                <a:cs typeface="Times New Roman" panose="02020603050405020304" pitchFamily="18" charset="0"/>
              </a:rPr>
              <a:t>Provides an interactive environment for coding, data analysis, and visualization.</a:t>
            </a:r>
          </a:p>
          <a:p>
            <a:pPr lvl="1"/>
            <a:r>
              <a:rPr lang="en-IN" sz="1300" dirty="0">
                <a:latin typeface="Times New Roman" panose="02020603050405020304" pitchFamily="18" charset="0"/>
                <a:cs typeface="Times New Roman" panose="02020603050405020304" pitchFamily="18" charset="0"/>
              </a:rPr>
              <a:t>Supports step-by-step execution, making it ideal for exploratory data analysis (EDA).</a:t>
            </a:r>
          </a:p>
          <a:p>
            <a:pPr marL="0" indent="0">
              <a:lnSpc>
                <a:spcPct val="100000"/>
              </a:lnSpc>
              <a:buNone/>
            </a:pPr>
            <a:r>
              <a:rPr lang="en-IN" sz="1300" b="1" dirty="0">
                <a:latin typeface="Times New Roman" panose="02020603050405020304" pitchFamily="18" charset="0"/>
                <a:cs typeface="Times New Roman" panose="02020603050405020304" pitchFamily="18" charset="0"/>
              </a:rPr>
              <a:t>Python Libraries</a:t>
            </a:r>
          </a:p>
          <a:p>
            <a:pPr marL="0" indent="0">
              <a:lnSpc>
                <a:spcPct val="100000"/>
              </a:lnSpc>
              <a:buNone/>
            </a:pPr>
            <a:r>
              <a:rPr lang="en-IN" sz="1300" b="1" dirty="0">
                <a:latin typeface="Times New Roman" panose="02020603050405020304" pitchFamily="18" charset="0"/>
                <a:cs typeface="Times New Roman" panose="02020603050405020304" pitchFamily="18" charset="0"/>
              </a:rPr>
              <a:t>NumPy</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numpy</a:t>
            </a:r>
            <a:r>
              <a:rPr lang="en-IN" sz="1300" dirty="0">
                <a:latin typeface="Times New Roman" panose="02020603050405020304" pitchFamily="18" charset="0"/>
                <a:cs typeface="Times New Roman" panose="02020603050405020304" pitchFamily="18" charset="0"/>
              </a:rPr>
              <a:t> as np)</a:t>
            </a:r>
          </a:p>
          <a:p>
            <a:pPr lvl="1"/>
            <a:r>
              <a:rPr lang="en-IN" sz="1300" dirty="0">
                <a:latin typeface="Times New Roman" panose="02020603050405020304" pitchFamily="18" charset="0"/>
                <a:cs typeface="Times New Roman" panose="02020603050405020304" pitchFamily="18" charset="0"/>
              </a:rPr>
              <a:t>Used for numerical computations and handling multi-dimensional arrays.</a:t>
            </a:r>
          </a:p>
          <a:p>
            <a:pPr lvl="1"/>
            <a:r>
              <a:rPr lang="en-IN" sz="1300" dirty="0">
                <a:latin typeface="Times New Roman" panose="02020603050405020304" pitchFamily="18" charset="0"/>
                <a:cs typeface="Times New Roman" panose="02020603050405020304" pitchFamily="18" charset="0"/>
              </a:rPr>
              <a:t>Provides mathematical functions for efficient data manipulation.</a:t>
            </a:r>
          </a:p>
          <a:p>
            <a:pPr marL="0" indent="0">
              <a:lnSpc>
                <a:spcPct val="100000"/>
              </a:lnSpc>
              <a:buNone/>
            </a:pPr>
            <a:r>
              <a:rPr lang="en-IN" sz="1300" b="1" dirty="0">
                <a:latin typeface="Times New Roman" panose="02020603050405020304" pitchFamily="18" charset="0"/>
                <a:cs typeface="Times New Roman" panose="02020603050405020304" pitchFamily="18" charset="0"/>
              </a:rPr>
              <a:t>Pandas</a:t>
            </a:r>
            <a:r>
              <a:rPr lang="en-IN" sz="1300" dirty="0">
                <a:latin typeface="Times New Roman" panose="02020603050405020304" pitchFamily="18" charset="0"/>
                <a:cs typeface="Times New Roman" panose="02020603050405020304" pitchFamily="18" charset="0"/>
              </a:rPr>
              <a:t> (pandas as pd)</a:t>
            </a:r>
          </a:p>
          <a:p>
            <a:pPr lvl="1"/>
            <a:r>
              <a:rPr lang="en-IN" sz="1300" dirty="0">
                <a:latin typeface="Times New Roman" panose="02020603050405020304" pitchFamily="18" charset="0"/>
                <a:cs typeface="Times New Roman" panose="02020603050405020304" pitchFamily="18" charset="0"/>
              </a:rPr>
              <a:t>Used for data cleaning, transformation, and manipulation.</a:t>
            </a:r>
          </a:p>
          <a:p>
            <a:pPr lvl="1"/>
            <a:r>
              <a:rPr lang="en-IN" sz="1300" dirty="0">
                <a:latin typeface="Times New Roman" panose="02020603050405020304" pitchFamily="18" charset="0"/>
                <a:cs typeface="Times New Roman" panose="02020603050405020304" pitchFamily="18" charset="0"/>
              </a:rPr>
              <a:t>Provides </a:t>
            </a:r>
            <a:r>
              <a:rPr lang="en-IN" sz="1300" dirty="0" err="1">
                <a:latin typeface="Times New Roman" panose="02020603050405020304" pitchFamily="18" charset="0"/>
                <a:cs typeface="Times New Roman" panose="02020603050405020304" pitchFamily="18" charset="0"/>
              </a:rPr>
              <a:t>DataFrame</a:t>
            </a:r>
            <a:r>
              <a:rPr lang="en-IN" sz="1300" dirty="0">
                <a:latin typeface="Times New Roman" panose="02020603050405020304" pitchFamily="18" charset="0"/>
                <a:cs typeface="Times New Roman" panose="02020603050405020304" pitchFamily="18" charset="0"/>
              </a:rPr>
              <a:t> and Series structures for handling structured datasets.</a:t>
            </a:r>
          </a:p>
          <a:p>
            <a:pPr marL="0" indent="0">
              <a:lnSpc>
                <a:spcPct val="100000"/>
              </a:lnSpc>
              <a:buNone/>
            </a:pPr>
            <a:r>
              <a:rPr lang="en-IN" sz="1300" b="1" dirty="0">
                <a:latin typeface="Times New Roman" panose="02020603050405020304" pitchFamily="18" charset="0"/>
                <a:cs typeface="Times New Roman" panose="02020603050405020304" pitchFamily="18" charset="0"/>
              </a:rPr>
              <a:t>Matplotlib</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matplotlib.pyplot</a:t>
            </a:r>
            <a:r>
              <a:rPr lang="en-IN" sz="1300" dirty="0">
                <a:latin typeface="Times New Roman" panose="02020603050405020304" pitchFamily="18" charset="0"/>
                <a:cs typeface="Times New Roman" panose="02020603050405020304" pitchFamily="18" charset="0"/>
              </a:rPr>
              <a:t> as </a:t>
            </a:r>
            <a:r>
              <a:rPr lang="en-IN" sz="1300" dirty="0" err="1">
                <a:latin typeface="Times New Roman" panose="02020603050405020304" pitchFamily="18" charset="0"/>
                <a:cs typeface="Times New Roman" panose="02020603050405020304" pitchFamily="18" charset="0"/>
              </a:rPr>
              <a:t>plt</a:t>
            </a:r>
            <a:r>
              <a:rPr lang="en-IN" sz="1300" dirty="0">
                <a:latin typeface="Times New Roman" panose="02020603050405020304" pitchFamily="18" charset="0"/>
                <a:cs typeface="Times New Roman" panose="02020603050405020304" pitchFamily="18" charset="0"/>
              </a:rPr>
              <a:t>)</a:t>
            </a:r>
          </a:p>
          <a:p>
            <a:pPr lvl="1"/>
            <a:r>
              <a:rPr lang="en-IN" sz="1300" dirty="0">
                <a:latin typeface="Times New Roman" panose="02020603050405020304" pitchFamily="18" charset="0"/>
                <a:cs typeface="Times New Roman" panose="02020603050405020304" pitchFamily="18" charset="0"/>
              </a:rPr>
              <a:t>Fundamental library for creating static visualizations.</a:t>
            </a:r>
          </a:p>
          <a:p>
            <a:pPr lvl="1"/>
            <a:r>
              <a:rPr lang="en-IN" sz="1300" dirty="0">
                <a:latin typeface="Times New Roman" panose="02020603050405020304" pitchFamily="18" charset="0"/>
                <a:cs typeface="Times New Roman" panose="02020603050405020304" pitchFamily="18" charset="0"/>
              </a:rPr>
              <a:t>Useful for line charts, bar graphs, histograms, and scatter plots.</a:t>
            </a:r>
          </a:p>
          <a:p>
            <a:pPr marL="0" indent="0">
              <a:lnSpc>
                <a:spcPct val="100000"/>
              </a:lnSpc>
              <a:buNone/>
            </a:pPr>
            <a:r>
              <a:rPr lang="en-IN" sz="1300" b="1" dirty="0">
                <a:latin typeface="Times New Roman" panose="02020603050405020304" pitchFamily="18" charset="0"/>
                <a:cs typeface="Times New Roman" panose="02020603050405020304" pitchFamily="18" charset="0"/>
              </a:rPr>
              <a:t>Seaborn</a:t>
            </a:r>
            <a:r>
              <a:rPr lang="en-IN" sz="1300" dirty="0">
                <a:latin typeface="Times New Roman" panose="02020603050405020304" pitchFamily="18" charset="0"/>
                <a:cs typeface="Times New Roman" panose="02020603050405020304" pitchFamily="18" charset="0"/>
              </a:rPr>
              <a:t> (seaborn as </a:t>
            </a:r>
            <a:r>
              <a:rPr lang="en-IN" sz="1300" dirty="0" err="1">
                <a:latin typeface="Times New Roman" panose="02020603050405020304" pitchFamily="18" charset="0"/>
                <a:cs typeface="Times New Roman" panose="02020603050405020304" pitchFamily="18" charset="0"/>
              </a:rPr>
              <a:t>sns</a:t>
            </a:r>
            <a:r>
              <a:rPr lang="en-IN" sz="1300" dirty="0">
                <a:latin typeface="Times New Roman" panose="02020603050405020304" pitchFamily="18" charset="0"/>
                <a:cs typeface="Times New Roman" panose="02020603050405020304" pitchFamily="18" charset="0"/>
              </a:rPr>
              <a:t>)</a:t>
            </a:r>
          </a:p>
          <a:p>
            <a:pPr lvl="1"/>
            <a:r>
              <a:rPr lang="en-IN" sz="1300" dirty="0">
                <a:latin typeface="Times New Roman" panose="02020603050405020304" pitchFamily="18" charset="0"/>
                <a:cs typeface="Times New Roman" panose="02020603050405020304" pitchFamily="18" charset="0"/>
              </a:rPr>
              <a:t>Built on top of Matplotlib, designed for statistical data visualization.</a:t>
            </a:r>
          </a:p>
          <a:p>
            <a:pPr lvl="1"/>
            <a:r>
              <a:rPr lang="en-IN" sz="1300" dirty="0">
                <a:latin typeface="Times New Roman" panose="02020603050405020304" pitchFamily="18" charset="0"/>
                <a:cs typeface="Times New Roman" panose="02020603050405020304" pitchFamily="18" charset="0"/>
              </a:rPr>
              <a:t>Helps create more informative and attractive plots like heatmaps, boxplots, etc.</a:t>
            </a:r>
          </a:p>
          <a:p>
            <a:pPr marL="0" indent="0">
              <a:lnSpc>
                <a:spcPct val="100000"/>
              </a:lnSpc>
              <a:buNone/>
            </a:pPr>
            <a:r>
              <a:rPr lang="en-IN" sz="1300" b="1" dirty="0" err="1">
                <a:latin typeface="Times New Roman" panose="02020603050405020304" pitchFamily="18" charset="0"/>
                <a:cs typeface="Times New Roman" panose="02020603050405020304" pitchFamily="18" charset="0"/>
              </a:rPr>
              <a:t>Plotly</a:t>
            </a:r>
            <a:r>
              <a:rPr lang="en-IN" sz="1300" b="1" dirty="0">
                <a:latin typeface="Times New Roman" panose="02020603050405020304" pitchFamily="18" charset="0"/>
                <a:cs typeface="Times New Roman" panose="02020603050405020304" pitchFamily="18" charset="0"/>
              </a:rPr>
              <a:t> Express</a:t>
            </a:r>
            <a:r>
              <a:rPr lang="en-IN" sz="1300" dirty="0">
                <a:latin typeface="Times New Roman" panose="02020603050405020304" pitchFamily="18" charset="0"/>
                <a:cs typeface="Times New Roman" panose="02020603050405020304" pitchFamily="18" charset="0"/>
              </a:rPr>
              <a:t> (</a:t>
            </a:r>
            <a:r>
              <a:rPr lang="en-IN" sz="1300" dirty="0" err="1">
                <a:latin typeface="Times New Roman" panose="02020603050405020304" pitchFamily="18" charset="0"/>
                <a:cs typeface="Times New Roman" panose="02020603050405020304" pitchFamily="18" charset="0"/>
              </a:rPr>
              <a:t>plotly.express</a:t>
            </a:r>
            <a:r>
              <a:rPr lang="en-IN" sz="1300" dirty="0">
                <a:latin typeface="Times New Roman" panose="02020603050405020304" pitchFamily="18" charset="0"/>
                <a:cs typeface="Times New Roman" panose="02020603050405020304" pitchFamily="18" charset="0"/>
              </a:rPr>
              <a:t> as </a:t>
            </a:r>
            <a:r>
              <a:rPr lang="en-IN" sz="1300" dirty="0" err="1">
                <a:latin typeface="Times New Roman" panose="02020603050405020304" pitchFamily="18" charset="0"/>
                <a:cs typeface="Times New Roman" panose="02020603050405020304" pitchFamily="18" charset="0"/>
              </a:rPr>
              <a:t>px</a:t>
            </a:r>
            <a:r>
              <a:rPr lang="en-IN" sz="1300" dirty="0">
                <a:latin typeface="Times New Roman" panose="02020603050405020304" pitchFamily="18" charset="0"/>
                <a:cs typeface="Times New Roman" panose="02020603050405020304" pitchFamily="18" charset="0"/>
              </a:rPr>
              <a:t>)</a:t>
            </a:r>
          </a:p>
          <a:p>
            <a:pPr lvl="1"/>
            <a:r>
              <a:rPr lang="en-IN" sz="1300" dirty="0">
                <a:latin typeface="Times New Roman" panose="02020603050405020304" pitchFamily="18" charset="0"/>
                <a:cs typeface="Times New Roman" panose="02020603050405020304" pitchFamily="18" charset="0"/>
              </a:rPr>
              <a:t>Used for creating interactive visualizations.</a:t>
            </a:r>
          </a:p>
          <a:p>
            <a:pPr lvl="1"/>
            <a:r>
              <a:rPr lang="en-IN" sz="1300" dirty="0">
                <a:latin typeface="Times New Roman" panose="02020603050405020304" pitchFamily="18" charset="0"/>
                <a:cs typeface="Times New Roman" panose="02020603050405020304" pitchFamily="18" charset="0"/>
              </a:rPr>
              <a:t>Enables dynamic charts and dashboards for deeper data insights.</a:t>
            </a:r>
          </a:p>
          <a:p>
            <a:pPr lvl="1"/>
            <a:endParaRPr lang="en-IN" sz="1300" dirty="0">
              <a:latin typeface="Times New Roman" panose="02020603050405020304" pitchFamily="18" charset="0"/>
              <a:cs typeface="Times New Roman" panose="02020603050405020304" pitchFamily="18" charset="0"/>
            </a:endParaRP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361819" y="136573"/>
            <a:ext cx="5306291" cy="713044"/>
          </a:xfrm>
        </p:spPr>
        <p:txBody>
          <a:bodyPr>
            <a:normAutofit fontScale="90000"/>
          </a:bodyPr>
          <a:lstStyle/>
          <a:p>
            <a:r>
              <a:rPr lang="en-US" sz="4300"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fade">
                                      <p:cBhvr>
                                        <p:cTn id="31" dur="1000"/>
                                        <p:tgtEl>
                                          <p:spTgt spid="7">
                                            <p:txEl>
                                              <p:pRg st="3" end="3"/>
                                            </p:txEl>
                                          </p:spTgt>
                                        </p:tgtEl>
                                      </p:cBhvr>
                                    </p:animEffect>
                                    <p:anim calcmode="lin" valueType="num">
                                      <p:cBhvr>
                                        <p:cTn id="32"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7">
                                            <p:txEl>
                                              <p:pRg st="4" end="4"/>
                                            </p:txEl>
                                          </p:spTgt>
                                        </p:tgtEl>
                                        <p:attrNameLst>
                                          <p:attrName>style.visibility</p:attrName>
                                        </p:attrNameLst>
                                      </p:cBhvr>
                                      <p:to>
                                        <p:strVal val="visible"/>
                                      </p:to>
                                    </p:set>
                                    <p:animEffect transition="in" filter="fade">
                                      <p:cBhvr>
                                        <p:cTn id="38" dur="1000"/>
                                        <p:tgtEl>
                                          <p:spTgt spid="7">
                                            <p:txEl>
                                              <p:pRg st="4" end="4"/>
                                            </p:txEl>
                                          </p:spTgt>
                                        </p:tgtEl>
                                      </p:cBhvr>
                                    </p:animEffect>
                                    <p:anim calcmode="lin" valueType="num">
                                      <p:cBhvr>
                                        <p:cTn id="39"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4" end="4"/>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xEl>
                                              <p:pRg st="5" end="5"/>
                                            </p:txEl>
                                          </p:spTgt>
                                        </p:tgtEl>
                                        <p:attrNameLst>
                                          <p:attrName>style.visibility</p:attrName>
                                        </p:attrNameLst>
                                      </p:cBhvr>
                                      <p:to>
                                        <p:strVal val="visible"/>
                                      </p:to>
                                    </p:set>
                                    <p:animEffect transition="in" filter="fade">
                                      <p:cBhvr>
                                        <p:cTn id="43" dur="1000"/>
                                        <p:tgtEl>
                                          <p:spTgt spid="7">
                                            <p:txEl>
                                              <p:pRg st="5" end="5"/>
                                            </p:txEl>
                                          </p:spTgt>
                                        </p:tgtEl>
                                      </p:cBhvr>
                                    </p:animEffect>
                                    <p:anim calcmode="lin" valueType="num">
                                      <p:cBhvr>
                                        <p:cTn id="44"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7">
                                            <p:txEl>
                                              <p:pRg st="6" end="6"/>
                                            </p:txEl>
                                          </p:spTgt>
                                        </p:tgtEl>
                                        <p:attrNameLst>
                                          <p:attrName>style.visibility</p:attrName>
                                        </p:attrNameLst>
                                      </p:cBhvr>
                                      <p:to>
                                        <p:strVal val="visible"/>
                                      </p:to>
                                    </p:set>
                                    <p:animEffect transition="in" filter="fade">
                                      <p:cBhvr>
                                        <p:cTn id="48" dur="1000"/>
                                        <p:tgtEl>
                                          <p:spTgt spid="7">
                                            <p:txEl>
                                              <p:pRg st="6" end="6"/>
                                            </p:txEl>
                                          </p:spTgt>
                                        </p:tgtEl>
                                      </p:cBhvr>
                                    </p:animEffect>
                                    <p:anim calcmode="lin" valueType="num">
                                      <p:cBhvr>
                                        <p:cTn id="49"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7">
                                            <p:txEl>
                                              <p:pRg st="7" end="7"/>
                                            </p:txEl>
                                          </p:spTgt>
                                        </p:tgtEl>
                                        <p:attrNameLst>
                                          <p:attrName>style.visibility</p:attrName>
                                        </p:attrNameLst>
                                      </p:cBhvr>
                                      <p:to>
                                        <p:strVal val="visible"/>
                                      </p:to>
                                    </p:set>
                                    <p:animEffect transition="in" filter="fade">
                                      <p:cBhvr>
                                        <p:cTn id="55" dur="1000"/>
                                        <p:tgtEl>
                                          <p:spTgt spid="7">
                                            <p:txEl>
                                              <p:pRg st="7" end="7"/>
                                            </p:txEl>
                                          </p:spTgt>
                                        </p:tgtEl>
                                      </p:cBhvr>
                                    </p:animEffect>
                                    <p:anim calcmode="lin" valueType="num">
                                      <p:cBhvr>
                                        <p:cTn id="56"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7">
                                            <p:txEl>
                                              <p:pRg st="8" end="8"/>
                                            </p:txEl>
                                          </p:spTgt>
                                        </p:tgtEl>
                                        <p:attrNameLst>
                                          <p:attrName>style.visibility</p:attrName>
                                        </p:attrNameLst>
                                      </p:cBhvr>
                                      <p:to>
                                        <p:strVal val="visible"/>
                                      </p:to>
                                    </p:set>
                                    <p:animEffect transition="in" filter="fade">
                                      <p:cBhvr>
                                        <p:cTn id="60" dur="1000"/>
                                        <p:tgtEl>
                                          <p:spTgt spid="7">
                                            <p:txEl>
                                              <p:pRg st="8" end="8"/>
                                            </p:txEl>
                                          </p:spTgt>
                                        </p:tgtEl>
                                      </p:cBhvr>
                                    </p:animEffect>
                                    <p:anim calcmode="lin" valueType="num">
                                      <p:cBhvr>
                                        <p:cTn id="6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62" dur="1000" fill="hold"/>
                                        <p:tgtEl>
                                          <p:spTgt spid="7">
                                            <p:txEl>
                                              <p:pRg st="8" end="8"/>
                                            </p:txEl>
                                          </p:spTgt>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7">
                                            <p:txEl>
                                              <p:pRg st="9" end="9"/>
                                            </p:txEl>
                                          </p:spTgt>
                                        </p:tgtEl>
                                        <p:attrNameLst>
                                          <p:attrName>style.visibility</p:attrName>
                                        </p:attrNameLst>
                                      </p:cBhvr>
                                      <p:to>
                                        <p:strVal val="visible"/>
                                      </p:to>
                                    </p:set>
                                    <p:animEffect transition="in" filter="fade">
                                      <p:cBhvr>
                                        <p:cTn id="65" dur="1000"/>
                                        <p:tgtEl>
                                          <p:spTgt spid="7">
                                            <p:txEl>
                                              <p:pRg st="9" end="9"/>
                                            </p:txEl>
                                          </p:spTgt>
                                        </p:tgtEl>
                                      </p:cBhvr>
                                    </p:animEffect>
                                    <p:anim calcmode="lin" valueType="num">
                                      <p:cBhvr>
                                        <p:cTn id="66"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7" dur="1000" fill="hold"/>
                                        <p:tgtEl>
                                          <p:spTgt spid="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7">
                                            <p:txEl>
                                              <p:pRg st="10" end="10"/>
                                            </p:txEl>
                                          </p:spTgt>
                                        </p:tgtEl>
                                        <p:attrNameLst>
                                          <p:attrName>style.visibility</p:attrName>
                                        </p:attrNameLst>
                                      </p:cBhvr>
                                      <p:to>
                                        <p:strVal val="visible"/>
                                      </p:to>
                                    </p:set>
                                    <p:animEffect transition="in" filter="fade">
                                      <p:cBhvr>
                                        <p:cTn id="72" dur="1000"/>
                                        <p:tgtEl>
                                          <p:spTgt spid="7">
                                            <p:txEl>
                                              <p:pRg st="10" end="10"/>
                                            </p:txEl>
                                          </p:spTgt>
                                        </p:tgtEl>
                                      </p:cBhvr>
                                    </p:animEffect>
                                    <p:anim calcmode="lin" valueType="num">
                                      <p:cBhvr>
                                        <p:cTn id="73"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74"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7">
                                            <p:txEl>
                                              <p:pRg st="11" end="11"/>
                                            </p:txEl>
                                          </p:spTgt>
                                        </p:tgtEl>
                                        <p:attrNameLst>
                                          <p:attrName>style.visibility</p:attrName>
                                        </p:attrNameLst>
                                      </p:cBhvr>
                                      <p:to>
                                        <p:strVal val="visible"/>
                                      </p:to>
                                    </p:set>
                                    <p:animEffect transition="in" filter="fade">
                                      <p:cBhvr>
                                        <p:cTn id="77" dur="1000"/>
                                        <p:tgtEl>
                                          <p:spTgt spid="7">
                                            <p:txEl>
                                              <p:pRg st="11" end="11"/>
                                            </p:txEl>
                                          </p:spTgt>
                                        </p:tgtEl>
                                      </p:cBhvr>
                                    </p:animEffect>
                                    <p:anim calcmode="lin" valueType="num">
                                      <p:cBhvr>
                                        <p:cTn id="78"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79" dur="1000" fill="hold"/>
                                        <p:tgtEl>
                                          <p:spTgt spid="7">
                                            <p:txEl>
                                              <p:pRg st="11" end="11"/>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7">
                                            <p:txEl>
                                              <p:pRg st="12" end="12"/>
                                            </p:txEl>
                                          </p:spTgt>
                                        </p:tgtEl>
                                        <p:attrNameLst>
                                          <p:attrName>style.visibility</p:attrName>
                                        </p:attrNameLst>
                                      </p:cBhvr>
                                      <p:to>
                                        <p:strVal val="visible"/>
                                      </p:to>
                                    </p:set>
                                    <p:animEffect transition="in" filter="fade">
                                      <p:cBhvr>
                                        <p:cTn id="82" dur="1000"/>
                                        <p:tgtEl>
                                          <p:spTgt spid="7">
                                            <p:txEl>
                                              <p:pRg st="12" end="12"/>
                                            </p:txEl>
                                          </p:spTgt>
                                        </p:tgtEl>
                                      </p:cBhvr>
                                    </p:animEffect>
                                    <p:anim calcmode="lin" valueType="num">
                                      <p:cBhvr>
                                        <p:cTn id="83" dur="1000" fill="hold"/>
                                        <p:tgtEl>
                                          <p:spTgt spid="7">
                                            <p:txEl>
                                              <p:pRg st="12" end="12"/>
                                            </p:txEl>
                                          </p:spTgt>
                                        </p:tgtEl>
                                        <p:attrNameLst>
                                          <p:attrName>ppt_x</p:attrName>
                                        </p:attrNameLst>
                                      </p:cBhvr>
                                      <p:tavLst>
                                        <p:tav tm="0">
                                          <p:val>
                                            <p:strVal val="#ppt_x"/>
                                          </p:val>
                                        </p:tav>
                                        <p:tav tm="100000">
                                          <p:val>
                                            <p:strVal val="#ppt_x"/>
                                          </p:val>
                                        </p:tav>
                                      </p:tavLst>
                                    </p:anim>
                                    <p:anim calcmode="lin" valueType="num">
                                      <p:cBhvr>
                                        <p:cTn id="84" dur="1000" fill="hold"/>
                                        <p:tgtEl>
                                          <p:spTgt spid="7">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7">
                                            <p:txEl>
                                              <p:pRg st="13" end="13"/>
                                            </p:txEl>
                                          </p:spTgt>
                                        </p:tgtEl>
                                        <p:attrNameLst>
                                          <p:attrName>style.visibility</p:attrName>
                                        </p:attrNameLst>
                                      </p:cBhvr>
                                      <p:to>
                                        <p:strVal val="visible"/>
                                      </p:to>
                                    </p:set>
                                    <p:animEffect transition="in" filter="fade">
                                      <p:cBhvr>
                                        <p:cTn id="89" dur="1000"/>
                                        <p:tgtEl>
                                          <p:spTgt spid="7">
                                            <p:txEl>
                                              <p:pRg st="13" end="13"/>
                                            </p:txEl>
                                          </p:spTgt>
                                        </p:tgtEl>
                                      </p:cBhvr>
                                    </p:animEffect>
                                    <p:anim calcmode="lin" valueType="num">
                                      <p:cBhvr>
                                        <p:cTn id="90" dur="1000" fill="hold"/>
                                        <p:tgtEl>
                                          <p:spTgt spid="7">
                                            <p:txEl>
                                              <p:pRg st="13" end="13"/>
                                            </p:txEl>
                                          </p:spTgt>
                                        </p:tgtEl>
                                        <p:attrNameLst>
                                          <p:attrName>ppt_x</p:attrName>
                                        </p:attrNameLst>
                                      </p:cBhvr>
                                      <p:tavLst>
                                        <p:tav tm="0">
                                          <p:val>
                                            <p:strVal val="#ppt_x"/>
                                          </p:val>
                                        </p:tav>
                                        <p:tav tm="100000">
                                          <p:val>
                                            <p:strVal val="#ppt_x"/>
                                          </p:val>
                                        </p:tav>
                                      </p:tavLst>
                                    </p:anim>
                                    <p:anim calcmode="lin" valueType="num">
                                      <p:cBhvr>
                                        <p:cTn id="91" dur="1000" fill="hold"/>
                                        <p:tgtEl>
                                          <p:spTgt spid="7">
                                            <p:txEl>
                                              <p:pRg st="13" end="13"/>
                                            </p:tx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7">
                                            <p:txEl>
                                              <p:pRg st="14" end="14"/>
                                            </p:txEl>
                                          </p:spTgt>
                                        </p:tgtEl>
                                        <p:attrNameLst>
                                          <p:attrName>style.visibility</p:attrName>
                                        </p:attrNameLst>
                                      </p:cBhvr>
                                      <p:to>
                                        <p:strVal val="visible"/>
                                      </p:to>
                                    </p:set>
                                    <p:animEffect transition="in" filter="fade">
                                      <p:cBhvr>
                                        <p:cTn id="94" dur="1000"/>
                                        <p:tgtEl>
                                          <p:spTgt spid="7">
                                            <p:txEl>
                                              <p:pRg st="14" end="14"/>
                                            </p:txEl>
                                          </p:spTgt>
                                        </p:tgtEl>
                                      </p:cBhvr>
                                    </p:animEffect>
                                    <p:anim calcmode="lin" valueType="num">
                                      <p:cBhvr>
                                        <p:cTn id="95" dur="1000" fill="hold"/>
                                        <p:tgtEl>
                                          <p:spTgt spid="7">
                                            <p:txEl>
                                              <p:pRg st="14" end="14"/>
                                            </p:txEl>
                                          </p:spTgt>
                                        </p:tgtEl>
                                        <p:attrNameLst>
                                          <p:attrName>ppt_x</p:attrName>
                                        </p:attrNameLst>
                                      </p:cBhvr>
                                      <p:tavLst>
                                        <p:tav tm="0">
                                          <p:val>
                                            <p:strVal val="#ppt_x"/>
                                          </p:val>
                                        </p:tav>
                                        <p:tav tm="100000">
                                          <p:val>
                                            <p:strVal val="#ppt_x"/>
                                          </p:val>
                                        </p:tav>
                                      </p:tavLst>
                                    </p:anim>
                                    <p:anim calcmode="lin" valueType="num">
                                      <p:cBhvr>
                                        <p:cTn id="96" dur="1000" fill="hold"/>
                                        <p:tgtEl>
                                          <p:spTgt spid="7">
                                            <p:txEl>
                                              <p:pRg st="14" end="14"/>
                                            </p:txEl>
                                          </p:spTgt>
                                        </p:tgtEl>
                                        <p:attrNameLst>
                                          <p:attrName>ppt_y</p:attrName>
                                        </p:attrNameLst>
                                      </p:cBhvr>
                                      <p:tavLst>
                                        <p:tav tm="0">
                                          <p:val>
                                            <p:strVal val="#ppt_y+.1"/>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7">
                                            <p:txEl>
                                              <p:pRg st="15" end="15"/>
                                            </p:txEl>
                                          </p:spTgt>
                                        </p:tgtEl>
                                        <p:attrNameLst>
                                          <p:attrName>style.visibility</p:attrName>
                                        </p:attrNameLst>
                                      </p:cBhvr>
                                      <p:to>
                                        <p:strVal val="visible"/>
                                      </p:to>
                                    </p:set>
                                    <p:animEffect transition="in" filter="fade">
                                      <p:cBhvr>
                                        <p:cTn id="99" dur="1000"/>
                                        <p:tgtEl>
                                          <p:spTgt spid="7">
                                            <p:txEl>
                                              <p:pRg st="15" end="15"/>
                                            </p:txEl>
                                          </p:spTgt>
                                        </p:tgtEl>
                                      </p:cBhvr>
                                    </p:animEffect>
                                    <p:anim calcmode="lin" valueType="num">
                                      <p:cBhvr>
                                        <p:cTn id="100" dur="1000" fill="hold"/>
                                        <p:tgtEl>
                                          <p:spTgt spid="7">
                                            <p:txEl>
                                              <p:pRg st="15" end="15"/>
                                            </p:txEl>
                                          </p:spTgt>
                                        </p:tgtEl>
                                        <p:attrNameLst>
                                          <p:attrName>ppt_x</p:attrName>
                                        </p:attrNameLst>
                                      </p:cBhvr>
                                      <p:tavLst>
                                        <p:tav tm="0">
                                          <p:val>
                                            <p:strVal val="#ppt_x"/>
                                          </p:val>
                                        </p:tav>
                                        <p:tav tm="100000">
                                          <p:val>
                                            <p:strVal val="#ppt_x"/>
                                          </p:val>
                                        </p:tav>
                                      </p:tavLst>
                                    </p:anim>
                                    <p:anim calcmode="lin" valueType="num">
                                      <p:cBhvr>
                                        <p:cTn id="101" dur="1000" fill="hold"/>
                                        <p:tgtEl>
                                          <p:spTgt spid="7">
                                            <p:txEl>
                                              <p:pRg st="15" end="15"/>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7">
                                            <p:txEl>
                                              <p:pRg st="16" end="16"/>
                                            </p:txEl>
                                          </p:spTgt>
                                        </p:tgtEl>
                                        <p:attrNameLst>
                                          <p:attrName>style.visibility</p:attrName>
                                        </p:attrNameLst>
                                      </p:cBhvr>
                                      <p:to>
                                        <p:strVal val="visible"/>
                                      </p:to>
                                    </p:set>
                                    <p:animEffect transition="in" filter="fade">
                                      <p:cBhvr>
                                        <p:cTn id="106" dur="1000"/>
                                        <p:tgtEl>
                                          <p:spTgt spid="7">
                                            <p:txEl>
                                              <p:pRg st="16" end="16"/>
                                            </p:txEl>
                                          </p:spTgt>
                                        </p:tgtEl>
                                      </p:cBhvr>
                                    </p:animEffect>
                                    <p:anim calcmode="lin" valueType="num">
                                      <p:cBhvr>
                                        <p:cTn id="107" dur="1000" fill="hold"/>
                                        <p:tgtEl>
                                          <p:spTgt spid="7">
                                            <p:txEl>
                                              <p:pRg st="16" end="16"/>
                                            </p:txEl>
                                          </p:spTgt>
                                        </p:tgtEl>
                                        <p:attrNameLst>
                                          <p:attrName>ppt_x</p:attrName>
                                        </p:attrNameLst>
                                      </p:cBhvr>
                                      <p:tavLst>
                                        <p:tav tm="0">
                                          <p:val>
                                            <p:strVal val="#ppt_x"/>
                                          </p:val>
                                        </p:tav>
                                        <p:tav tm="100000">
                                          <p:val>
                                            <p:strVal val="#ppt_x"/>
                                          </p:val>
                                        </p:tav>
                                      </p:tavLst>
                                    </p:anim>
                                    <p:anim calcmode="lin" valueType="num">
                                      <p:cBhvr>
                                        <p:cTn id="108" dur="1000" fill="hold"/>
                                        <p:tgtEl>
                                          <p:spTgt spid="7">
                                            <p:txEl>
                                              <p:pRg st="16" end="16"/>
                                            </p:txEl>
                                          </p:spTgt>
                                        </p:tgtEl>
                                        <p:attrNameLst>
                                          <p:attrName>ppt_y</p:attrName>
                                        </p:attrNameLst>
                                      </p:cBhvr>
                                      <p:tavLst>
                                        <p:tav tm="0">
                                          <p:val>
                                            <p:strVal val="#ppt_y+.1"/>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7">
                                            <p:txEl>
                                              <p:pRg st="17" end="17"/>
                                            </p:txEl>
                                          </p:spTgt>
                                        </p:tgtEl>
                                        <p:attrNameLst>
                                          <p:attrName>style.visibility</p:attrName>
                                        </p:attrNameLst>
                                      </p:cBhvr>
                                      <p:to>
                                        <p:strVal val="visible"/>
                                      </p:to>
                                    </p:set>
                                    <p:animEffect transition="in" filter="fade">
                                      <p:cBhvr>
                                        <p:cTn id="111" dur="1000"/>
                                        <p:tgtEl>
                                          <p:spTgt spid="7">
                                            <p:txEl>
                                              <p:pRg st="17" end="17"/>
                                            </p:txEl>
                                          </p:spTgt>
                                        </p:tgtEl>
                                      </p:cBhvr>
                                    </p:animEffect>
                                    <p:anim calcmode="lin" valueType="num">
                                      <p:cBhvr>
                                        <p:cTn id="112" dur="1000" fill="hold"/>
                                        <p:tgtEl>
                                          <p:spTgt spid="7">
                                            <p:txEl>
                                              <p:pRg st="17" end="17"/>
                                            </p:txEl>
                                          </p:spTgt>
                                        </p:tgtEl>
                                        <p:attrNameLst>
                                          <p:attrName>ppt_x</p:attrName>
                                        </p:attrNameLst>
                                      </p:cBhvr>
                                      <p:tavLst>
                                        <p:tav tm="0">
                                          <p:val>
                                            <p:strVal val="#ppt_x"/>
                                          </p:val>
                                        </p:tav>
                                        <p:tav tm="100000">
                                          <p:val>
                                            <p:strVal val="#ppt_x"/>
                                          </p:val>
                                        </p:tav>
                                      </p:tavLst>
                                    </p:anim>
                                    <p:anim calcmode="lin" valueType="num">
                                      <p:cBhvr>
                                        <p:cTn id="113" dur="1000" fill="hold"/>
                                        <p:tgtEl>
                                          <p:spTgt spid="7">
                                            <p:txEl>
                                              <p:pRg st="17" end="17"/>
                                            </p:txEl>
                                          </p:spTgt>
                                        </p:tgtEl>
                                        <p:attrNameLst>
                                          <p:attrName>ppt_y</p:attrName>
                                        </p:attrNameLst>
                                      </p:cBhvr>
                                      <p:tavLst>
                                        <p:tav tm="0">
                                          <p:val>
                                            <p:strVal val="#ppt_y+.1"/>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7">
                                            <p:txEl>
                                              <p:pRg st="18" end="18"/>
                                            </p:txEl>
                                          </p:spTgt>
                                        </p:tgtEl>
                                        <p:attrNameLst>
                                          <p:attrName>style.visibility</p:attrName>
                                        </p:attrNameLst>
                                      </p:cBhvr>
                                      <p:to>
                                        <p:strVal val="visible"/>
                                      </p:to>
                                    </p:set>
                                    <p:animEffect transition="in" filter="fade">
                                      <p:cBhvr>
                                        <p:cTn id="116" dur="1000"/>
                                        <p:tgtEl>
                                          <p:spTgt spid="7">
                                            <p:txEl>
                                              <p:pRg st="18" end="18"/>
                                            </p:txEl>
                                          </p:spTgt>
                                        </p:tgtEl>
                                      </p:cBhvr>
                                    </p:animEffect>
                                    <p:anim calcmode="lin" valueType="num">
                                      <p:cBhvr>
                                        <p:cTn id="117" dur="1000" fill="hold"/>
                                        <p:tgtEl>
                                          <p:spTgt spid="7">
                                            <p:txEl>
                                              <p:pRg st="18" end="18"/>
                                            </p:txEl>
                                          </p:spTgt>
                                        </p:tgtEl>
                                        <p:attrNameLst>
                                          <p:attrName>ppt_x</p:attrName>
                                        </p:attrNameLst>
                                      </p:cBhvr>
                                      <p:tavLst>
                                        <p:tav tm="0">
                                          <p:val>
                                            <p:strVal val="#ppt_x"/>
                                          </p:val>
                                        </p:tav>
                                        <p:tav tm="100000">
                                          <p:val>
                                            <p:strVal val="#ppt_x"/>
                                          </p:val>
                                        </p:tav>
                                      </p:tavLst>
                                    </p:anim>
                                    <p:anim calcmode="lin" valueType="num">
                                      <p:cBhvr>
                                        <p:cTn id="118" dur="1000" fill="hold"/>
                                        <p:tgtEl>
                                          <p:spTgt spid="7">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id="{A77FE636-88B7-CB3F-ED8B-1D95B7B6B2CE}"/>
              </a:ext>
            </a:extLst>
          </p:cNvPr>
          <p:cNvSpPr>
            <a:spLocks noGrp="1"/>
          </p:cNvSpPr>
          <p:nvPr>
            <p:ph type="title"/>
          </p:nvPr>
        </p:nvSpPr>
        <p:spPr>
          <a:xfrm>
            <a:off x="675957" y="370589"/>
            <a:ext cx="4036002" cy="830997"/>
          </a:xfrm>
        </p:spPr>
        <p:txBody>
          <a:bodyPr>
            <a:normAutofit/>
          </a:bodyPr>
          <a:lstStyle/>
          <a:p>
            <a:r>
              <a:rPr lang="en-GB" sz="4300" dirty="0">
                <a:latin typeface="Times New Roman" panose="02020603050405020304" pitchFamily="18" charset="0"/>
                <a:cs typeface="Times New Roman" panose="02020603050405020304" pitchFamily="18" charset="0"/>
              </a:rPr>
              <a:t>RESULT - 01</a:t>
            </a:r>
            <a:endParaRPr lang="en-IN" sz="43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2EA8064-D416-A8F4-8E1D-FFA552A1CC41}"/>
              </a:ext>
            </a:extLst>
          </p:cNvPr>
          <p:cNvSpPr txBox="1"/>
          <p:nvPr/>
        </p:nvSpPr>
        <p:spPr>
          <a:xfrm>
            <a:off x="649454" y="6302745"/>
            <a:ext cx="8125010"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01 – </a:t>
            </a:r>
            <a:r>
              <a:rPr lang="en-US" dirty="0">
                <a:latin typeface="Times New Roman" panose="02020603050405020304" pitchFamily="18" charset="0"/>
                <a:cs typeface="Times New Roman" panose="02020603050405020304" pitchFamily="18" charset="0"/>
              </a:rPr>
              <a:t>Plot of Year-wise Distribution of Content on Netflix (Movies vs. TV Shows)</a:t>
            </a:r>
            <a:endParaRPr lang="en-IN" dirty="0">
              <a:latin typeface="Times New Roman" panose="02020603050405020304" pitchFamily="18" charset="0"/>
              <a:cs typeface="Times New Roman" panose="02020603050405020304" pitchFamily="18" charset="0"/>
            </a:endParaRPr>
          </a:p>
        </p:txBody>
      </p:sp>
      <p:pic>
        <p:nvPicPr>
          <p:cNvPr id="11" name="Picture 10" descr="A graph with numbers and a number of years&#10;&#10;AI-generated content may be incorrect.">
            <a:extLst>
              <a:ext uri="{FF2B5EF4-FFF2-40B4-BE49-F238E27FC236}">
                <a16:creationId xmlns:a16="http://schemas.microsoft.com/office/drawing/2014/main" id="{BD8B8D24-8BE3-8402-417B-63A1D16524B1}"/>
              </a:ext>
            </a:extLst>
          </p:cNvPr>
          <p:cNvPicPr>
            <a:picLocks noChangeAspect="1"/>
          </p:cNvPicPr>
          <p:nvPr/>
        </p:nvPicPr>
        <p:blipFill>
          <a:blip r:embed="rId3"/>
          <a:stretch>
            <a:fillRect/>
          </a:stretch>
        </p:blipFill>
        <p:spPr>
          <a:xfrm>
            <a:off x="477086" y="1170638"/>
            <a:ext cx="8657747" cy="503422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4036002" cy="830997"/>
          </a:xfrm>
        </p:spPr>
        <p:txBody>
          <a:bodyPr>
            <a:normAutofit/>
          </a:bodyPr>
          <a:lstStyle/>
          <a:p>
            <a:r>
              <a:rPr lang="en-GB" sz="4300" dirty="0">
                <a:latin typeface="Times New Roman" panose="02020603050405020304" pitchFamily="18" charset="0"/>
                <a:cs typeface="Times New Roman" panose="02020603050405020304" pitchFamily="18" charset="0"/>
              </a:rPr>
              <a:t>RESULT - 02</a:t>
            </a:r>
            <a:endParaRPr lang="en-IN" sz="43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2" name="TextBox 11">
            <a:extLst>
              <a:ext uri="{FF2B5EF4-FFF2-40B4-BE49-F238E27FC236}">
                <a16:creationId xmlns:a16="http://schemas.microsoft.com/office/drawing/2014/main" id="{F0725C7E-5739-095C-7407-35735A48722D}"/>
              </a:ext>
            </a:extLst>
          </p:cNvPr>
          <p:cNvSpPr txBox="1"/>
          <p:nvPr/>
        </p:nvSpPr>
        <p:spPr>
          <a:xfrm>
            <a:off x="320982" y="6383774"/>
            <a:ext cx="8959375" cy="369332"/>
          </a:xfrm>
          <a:prstGeom prst="rect">
            <a:avLst/>
          </a:prstGeom>
          <a:noFill/>
        </p:spPr>
        <p:txBody>
          <a:bodyPr wrap="square">
            <a:spAutoFit/>
          </a:bodyPr>
          <a:lstStyle/>
          <a:p>
            <a:pPr algn="ctr"/>
            <a:r>
              <a:rPr lang="en-IN" dirty="0">
                <a:latin typeface="Times New Roman" panose="02020603050405020304" pitchFamily="18" charset="0"/>
                <a:cs typeface="Times New Roman" panose="02020603050405020304" pitchFamily="18" charset="0"/>
              </a:rPr>
              <a:t>Fig: 02 – Plot of </a:t>
            </a:r>
            <a:r>
              <a:rPr lang="en-US" dirty="0">
                <a:latin typeface="Times New Roman" panose="02020603050405020304" pitchFamily="18" charset="0"/>
                <a:cs typeface="Times New Roman" panose="02020603050405020304" pitchFamily="18" charset="0"/>
              </a:rPr>
              <a:t>Top 10 Country-wise Content Contribution to Netflix Catalog</a:t>
            </a:r>
            <a:endParaRPr lang="en-IN" dirty="0">
              <a:latin typeface="Times New Roman" panose="02020603050405020304" pitchFamily="18" charset="0"/>
              <a:cs typeface="Times New Roman" panose="02020603050405020304" pitchFamily="18" charset="0"/>
            </a:endParaRPr>
          </a:p>
        </p:txBody>
      </p:sp>
      <p:pic>
        <p:nvPicPr>
          <p:cNvPr id="9" name="Picture 8" descr="A graph with numbers and bars&#10;&#10;AI-generated content may be incorrect.">
            <a:extLst>
              <a:ext uri="{FF2B5EF4-FFF2-40B4-BE49-F238E27FC236}">
                <a16:creationId xmlns:a16="http://schemas.microsoft.com/office/drawing/2014/main" id="{54594FC9-4EED-CE07-C337-77F68AC8D152}"/>
              </a:ext>
            </a:extLst>
          </p:cNvPr>
          <p:cNvPicPr>
            <a:picLocks noChangeAspect="1"/>
          </p:cNvPicPr>
          <p:nvPr/>
        </p:nvPicPr>
        <p:blipFill>
          <a:blip r:embed="rId3"/>
          <a:stretch>
            <a:fillRect/>
          </a:stretch>
        </p:blipFill>
        <p:spPr>
          <a:xfrm>
            <a:off x="510528" y="1110343"/>
            <a:ext cx="8769829" cy="5185285"/>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itle 3">
            <a:extLst>
              <a:ext uri="{FF2B5EF4-FFF2-40B4-BE49-F238E27FC236}">
                <a16:creationId xmlns:a16="http://schemas.microsoft.com/office/drawing/2014/main" id="{CA0936CC-669D-8B2A-A2BF-4699815FB186}"/>
              </a:ext>
            </a:extLst>
          </p:cNvPr>
          <p:cNvSpPr txBox="1">
            <a:spLocks/>
          </p:cNvSpPr>
          <p:nvPr/>
        </p:nvSpPr>
        <p:spPr>
          <a:xfrm>
            <a:off x="675957" y="370589"/>
            <a:ext cx="4036002"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4300" dirty="0">
                <a:latin typeface="Times New Roman" panose="02020603050405020304" pitchFamily="18" charset="0"/>
                <a:cs typeface="Times New Roman" panose="02020603050405020304" pitchFamily="18" charset="0"/>
              </a:rPr>
              <a:t>RESULT - 03</a:t>
            </a:r>
            <a:endParaRPr lang="en-IN" sz="43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428D0F1B-FAA9-1B44-7DD8-E8933A4CEE79}"/>
              </a:ext>
            </a:extLst>
          </p:cNvPr>
          <p:cNvSpPr txBox="1"/>
          <p:nvPr/>
        </p:nvSpPr>
        <p:spPr>
          <a:xfrm>
            <a:off x="2120381" y="6302745"/>
            <a:ext cx="5183156"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Fig: 03 - </a:t>
            </a:r>
            <a:r>
              <a:rPr lang="en-US" dirty="0">
                <a:latin typeface="Times New Roman" panose="02020603050405020304" pitchFamily="18" charset="0"/>
                <a:cs typeface="Times New Roman" panose="02020603050405020304" pitchFamily="18" charset="0"/>
              </a:rPr>
              <a:t>Plot of Top 10 Directors by Number of Title</a:t>
            </a:r>
            <a:endParaRPr lang="en-IN" dirty="0">
              <a:latin typeface="Times New Roman" panose="02020603050405020304" pitchFamily="18" charset="0"/>
              <a:cs typeface="Times New Roman" panose="02020603050405020304" pitchFamily="18" charset="0"/>
            </a:endParaRPr>
          </a:p>
        </p:txBody>
      </p:sp>
      <p:pic>
        <p:nvPicPr>
          <p:cNvPr id="9" name="Picture 8" descr="A graph of a number of titles&#10;&#10;AI-generated content may be incorrect.">
            <a:extLst>
              <a:ext uri="{FF2B5EF4-FFF2-40B4-BE49-F238E27FC236}">
                <a16:creationId xmlns:a16="http://schemas.microsoft.com/office/drawing/2014/main" id="{5076CA0B-3AFB-C6FA-CA14-95AF17B82C80}"/>
              </a:ext>
            </a:extLst>
          </p:cNvPr>
          <p:cNvPicPr>
            <a:picLocks noChangeAspect="1"/>
          </p:cNvPicPr>
          <p:nvPr/>
        </p:nvPicPr>
        <p:blipFill>
          <a:blip r:embed="rId3"/>
          <a:stretch>
            <a:fillRect/>
          </a:stretch>
        </p:blipFill>
        <p:spPr>
          <a:xfrm>
            <a:off x="485192" y="1103348"/>
            <a:ext cx="8602825" cy="5101509"/>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sz="4300" dirty="0">
                <a:latin typeface="Times New Roman" panose="02020603050405020304" pitchFamily="18" charset="0"/>
                <a:cs typeface="Times New Roman" panose="02020603050405020304" pitchFamily="18" charset="0"/>
              </a:rPr>
              <a:t>GITHUB REPOSITORY</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214604" y="2819899"/>
            <a:ext cx="9060026" cy="1218201"/>
          </a:xfrm>
        </p:spPr>
        <p:txBody>
          <a:bodyPr vert="horz" lIns="91440" tIns="45720" rIns="91440" bIns="45720" rtlCol="0" anchor="t">
            <a:normAutofit/>
          </a:bodyPr>
          <a:lstStyle/>
          <a:p>
            <a:pPr marL="0" indent="0">
              <a:buNone/>
            </a:pPr>
            <a:r>
              <a:rPr lang="en-US" b="1" dirty="0">
                <a:latin typeface="Times New Roman" panose="02020603050405020304" pitchFamily="18" charset="0"/>
                <a:cs typeface="Times New Roman" panose="02020603050405020304" pitchFamily="18" charset="0"/>
              </a:rPr>
              <a:t>GitHub Link: </a:t>
            </a:r>
          </a:p>
          <a:p>
            <a:pPr marL="0" indent="0">
              <a:buNone/>
            </a:pPr>
            <a:r>
              <a:rPr lang="en-US" dirty="0">
                <a:latin typeface="Times New Roman" panose="02020603050405020304" pitchFamily="18" charset="0"/>
                <a:cs typeface="Times New Roman" panose="02020603050405020304" pitchFamily="18" charset="0"/>
                <a:hlinkClick r:id="rId3"/>
              </a:rPr>
              <a:t>https://github.com/Vidyadheesha-M-Pandurangi/Netflix_Content_Trends_A_Strategic_Analysis_2008-2021.git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1" end="1"/>
                                            </p:txEl>
                                          </p:spTgt>
                                        </p:tgtEl>
                                        <p:attrNameLst>
                                          <p:attrName>style.visibility</p:attrName>
                                        </p:attrNameLst>
                                      </p:cBhvr>
                                      <p:to>
                                        <p:strVal val="visible"/>
                                      </p:to>
                                    </p:set>
                                    <p:animEffect transition="in" filter="fade">
                                      <p:cBhvr>
                                        <p:cTn id="28" dur="1000"/>
                                        <p:tgtEl>
                                          <p:spTgt spid="10">
                                            <p:txEl>
                                              <p:pRg st="1" end="1"/>
                                            </p:txEl>
                                          </p:spTgt>
                                        </p:tgtEl>
                                      </p:cBhvr>
                                    </p:animEffect>
                                    <p:anim calcmode="lin" valueType="num">
                                      <p:cBhvr>
                                        <p:cTn id="29"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0" y="222984"/>
            <a:ext cx="9367935" cy="562472"/>
          </a:xfrm>
        </p:spPr>
        <p:txBody>
          <a:bodyPr>
            <a:noAutofit/>
          </a:bodyPr>
          <a:lstStyle/>
          <a:p>
            <a:r>
              <a:rPr lang="en-IN" sz="2400" dirty="0">
                <a:latin typeface="Times New Roman" panose="02020603050405020304" pitchFamily="18" charset="0"/>
                <a:cs typeface="Times New Roman" panose="02020603050405020304" pitchFamily="18" charset="0"/>
              </a:rPr>
              <a:t>GETTING STARTED WITH BASICS OF PYTHON </a:t>
            </a:r>
            <a:r>
              <a:rPr lang="en-GB" sz="2400" dirty="0">
                <a:latin typeface="Times New Roman" panose="02020603050405020304" pitchFamily="18" charset="0"/>
                <a:cs typeface="Times New Roman" panose="02020603050405020304" pitchFamily="18" charset="0"/>
              </a:rPr>
              <a:t>CERTIFICATE  </a:t>
            </a:r>
            <a:endParaRPr lang="en-IN" sz="2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descr="A certificate of completion with red text&#10;&#10;AI-generated content may be incorrect.">
            <a:extLst>
              <a:ext uri="{FF2B5EF4-FFF2-40B4-BE49-F238E27FC236}">
                <a16:creationId xmlns:a16="http://schemas.microsoft.com/office/drawing/2014/main" id="{FDA32FD8-966A-AFC8-FC63-673745414F82}"/>
              </a:ext>
            </a:extLst>
          </p:cNvPr>
          <p:cNvPicPr>
            <a:picLocks noChangeAspect="1"/>
          </p:cNvPicPr>
          <p:nvPr/>
        </p:nvPicPr>
        <p:blipFill>
          <a:blip r:embed="rId3"/>
          <a:stretch>
            <a:fillRect/>
          </a:stretch>
        </p:blipFill>
        <p:spPr>
          <a:xfrm>
            <a:off x="560064" y="772227"/>
            <a:ext cx="8332009" cy="5892734"/>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0" y="182954"/>
            <a:ext cx="10892066" cy="479520"/>
          </a:xfrm>
        </p:spPr>
        <p:txBody>
          <a:bodyPr>
            <a:noAutofit/>
          </a:bodyPr>
          <a:lstStyle/>
          <a:p>
            <a:r>
              <a:rPr lang="en-IN" sz="2400" dirty="0">
                <a:latin typeface="Times New Roman" panose="02020603050405020304" pitchFamily="18" charset="0"/>
                <a:cs typeface="Times New Roman" panose="02020603050405020304" pitchFamily="18" charset="0"/>
              </a:rPr>
              <a:t>DATA VISUALIZATION </a:t>
            </a:r>
            <a:r>
              <a:rPr lang="en-GB" sz="2400" dirty="0">
                <a:latin typeface="Times New Roman" panose="02020603050405020304" pitchFamily="18" charset="0"/>
                <a:cs typeface="Times New Roman" panose="02020603050405020304" pitchFamily="18" charset="0"/>
              </a:rPr>
              <a:t>CERTIFICATE  </a:t>
            </a:r>
            <a:endParaRPr lang="en-IN" sz="24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A certificate of completion with a red ribbon and a red seal&#10;&#10;AI-generated content may be incorrect.">
            <a:extLst>
              <a:ext uri="{FF2B5EF4-FFF2-40B4-BE49-F238E27FC236}">
                <a16:creationId xmlns:a16="http://schemas.microsoft.com/office/drawing/2014/main" id="{55716A51-067D-73EB-EBB9-208CDF0E4BC8}"/>
              </a:ext>
            </a:extLst>
          </p:cNvPr>
          <p:cNvPicPr>
            <a:picLocks noChangeAspect="1"/>
          </p:cNvPicPr>
          <p:nvPr/>
        </p:nvPicPr>
        <p:blipFill>
          <a:blip r:embed="rId3"/>
          <a:stretch>
            <a:fillRect/>
          </a:stretch>
        </p:blipFill>
        <p:spPr>
          <a:xfrm>
            <a:off x="573320" y="775001"/>
            <a:ext cx="8328084" cy="5889959"/>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742492" y="2843113"/>
            <a:ext cx="12192000" cy="700114"/>
          </a:xfrm>
          <a:prstGeom prst="rect">
            <a:avLst/>
          </a:prstGeom>
        </p:spPr>
        <p:txBody>
          <a:bodyPr anchor="ctr">
            <a:noAutofit/>
          </a:bodyPr>
          <a:lstStyle/>
          <a:p>
            <a:pPr algn="ctr"/>
            <a:r>
              <a:rPr lang="en-US" sz="7200" b="1" dirty="0">
                <a:solidFill>
                  <a:schemeClr val="tx1"/>
                </a:solidFill>
                <a:latin typeface="Times New Roman" panose="02020603050405020304" pitchFamily="18" charset="0"/>
                <a:cs typeface="Times New Roman" panose="02020603050405020304" pitchFamily="18" charset="0"/>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913</TotalTime>
  <Words>708</Words>
  <Application>Microsoft Office PowerPoint</Application>
  <PresentationFormat>Widescreen</PresentationFormat>
  <Paragraphs>55</Paragraphs>
  <Slides>12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Times New Roman</vt:lpstr>
      <vt:lpstr>Trebuchet MS</vt:lpstr>
      <vt:lpstr>Wingdings</vt:lpstr>
      <vt:lpstr>Wingdings 3</vt:lpstr>
      <vt:lpstr>Facet</vt:lpstr>
      <vt:lpstr>Netflix Content Trends:  A Strategic Analysis (2008–2021)</vt:lpstr>
      <vt:lpstr>PROBLEM  STATEMENT</vt:lpstr>
      <vt:lpstr> This project undertakes a focused analysis of the Netflix content library, utilizing a dataset containing 7,789 records of Movies and TV Shows spanning content added between 2008 and 2021. The central purpose is to perform a Strategic Content Trends Analysis designed to uncover the platform’s evolutionary shifts in content focus, geographical sourcing, and genre priorities. This investigation is critical in the context of fierce global competition from rival streaming services, necessitating data-driven strategic adjustments.   The specific challenge addressed is how to sustain Netflix’s competitive advantage by scientifically identifying strengths, gaps, and future opportunities within its content portfolio. The analysis begins with essential data preparation, ensuring the integrity of the 7,789 entries, particularly cleaning and standardizing categorical fields such as director, cast, country, and listed genres, which often contain multiple values. Following this, Exploratory Data Analysis (EDA) is conducted using visualization and statistical modeling to examine time-based trends in content distribution. </vt:lpstr>
      <vt:lpstr>WHO ARE THE END USERS?</vt:lpstr>
      <vt:lpstr>TECHNOLOGY USED</vt:lpstr>
      <vt:lpstr>RESULT - 01</vt:lpstr>
      <vt:lpstr>RESULT - 02</vt:lpstr>
      <vt:lpstr>PowerPoint Presentation</vt:lpstr>
      <vt:lpstr>GITHUB REPOSITORY</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Vidyadheesha M Pandurangi</cp:lastModifiedBy>
  <cp:revision>113</cp:revision>
  <dcterms:created xsi:type="dcterms:W3CDTF">2021-07-11T13:13:15Z</dcterms:created>
  <dcterms:modified xsi:type="dcterms:W3CDTF">2025-10-02T05:13:42Z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